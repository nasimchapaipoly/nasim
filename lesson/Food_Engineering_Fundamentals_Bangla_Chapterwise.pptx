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6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8" r:id="rId28"/>
    <p:sldId id="279" r:id="rId29"/>
    <p:sldId id="280" r:id="rId30"/>
    <p:sldId id="281" r:id="rId31"/>
    <p:sldId id="282" r:id="rId32"/>
    <p:sldId id="283" r:id="rId33"/>
    <p:sldId id="287" r:id="rId37"/>
    <p:sldId id="260" r:id="rId6"/>
    <p:sldId id="284" r:id="rId34"/>
    <p:sldId id="285" r:id="rId35"/>
    <p:sldId id="286" r:id="rId36"/>
    <p:sldId id="288" r:id="rId38"/>
    <p:sldId id="289" r:id="rId39"/>
    <p:sldId id="290" r:id="rId40"/>
    <p:sldId id="291" r:id="rId41"/>
    <p:sldId id="292" r:id="rId42"/>
    <p:sldId id="293" r:id="rId43"/>
    <p:sldId id="261" r:id="rId7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262" r:id="rId8"/>
    <p:sldId id="304" r:id="rId54"/>
    <p:sldId id="263" r:id="rId9"/>
    <p:sldId id="306" r:id="rId56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19" r:id="rId69"/>
    <p:sldId id="334" r:id="rId84"/>
    <p:sldId id="335" r:id="rId85"/>
    <p:sldId id="336" r:id="rId86"/>
    <p:sldId id="337" r:id="rId87"/>
    <p:sldId id="338" r:id="rId88"/>
    <p:sldId id="264" r:id="rId10"/>
    <p:sldId id="307" r:id="rId57"/>
    <p:sldId id="308" r:id="rId58"/>
    <p:sldId id="324" r:id="rId74"/>
    <p:sldId id="325" r:id="rId75"/>
    <p:sldId id="309" r:id="rId59"/>
    <p:sldId id="310" r:id="rId60"/>
    <p:sldId id="311" r:id="rId61"/>
    <p:sldId id="323" r:id="rId73"/>
    <p:sldId id="312" r:id="rId62"/>
    <p:sldId id="326" r:id="rId76"/>
    <p:sldId id="327" r:id="rId77"/>
    <p:sldId id="328" r:id="rId78"/>
    <p:sldId id="318" r:id="rId68"/>
    <p:sldId id="329" r:id="rId79"/>
    <p:sldId id="330" r:id="rId80"/>
    <p:sldId id="331" r:id="rId81"/>
    <p:sldId id="314" r:id="rId64"/>
    <p:sldId id="332" r:id="rId82"/>
    <p:sldId id="315" r:id="rId65"/>
    <p:sldId id="316" r:id="rId66"/>
    <p:sldId id="317" r:id="rId67"/>
    <p:sldId id="320" r:id="rId70"/>
    <p:sldId id="321" r:id="rId71"/>
    <p:sldId id="341" r:id="rId91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>
        <a:latin typeface="Kalpurush"/>
        <a:ea typeface="Kalpurush"/>
        <a:cs typeface="Kalpurush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Kalpurush"/>
        <a:ea typeface="Kalpurush"/>
        <a:cs typeface="Kalpurush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Kalpurush"/>
        <a:ea typeface="Kalpurush"/>
        <a:cs typeface="Kalpurush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Kalpurush"/>
        <a:ea typeface="Kalpurush"/>
        <a:cs typeface="Kalpurush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Kalpurush"/>
        <a:ea typeface="Kalpurush"/>
        <a:cs typeface="Kalpurush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Kalpurush"/>
        <a:ea typeface="Kalpurush"/>
        <a:cs typeface="Kalpurush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Kalpurush"/>
        <a:ea typeface="Kalpurush"/>
        <a:cs typeface="Kalpurush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Kalpurush"/>
        <a:ea typeface="Kalpurush"/>
        <a:cs typeface="Kalpurush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Kalpurush"/>
        <a:ea typeface="Kalpurush"/>
        <a:cs typeface="Kalpurush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Kalpurush"/>
        <a:ea typeface="Kalpurush"/>
        <a:cs typeface="Kalpurush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521415D9-36F7-43E2-AB2F-B90AF26B5E84}">
      <p14:sectionLst xmlns:p14="http://schemas.microsoft.com/office/powerpoint/2010/main">
        <p14:section name="প্রারম্ভিক" id="{EF104B89-F39D-4E40-B683-A8716793CD6A}">
          <p14:sldIdLst>
            <p14:sldId id="256"/>
            <p14:sldId id="257"/>
            <p14:sldId id="258"/>
          </p14:sldIdLst>
        </p14:section>
        <p14:section name="অধ্যায় ১: খাদ্য ও ফুড ইঞ্জিনিয়ারিং" id="{6BA7CD8A-A0A2-4485-9BFF-1125ED658402}">
          <p14:sldIdLst>
            <p14:sldId id="259"/>
            <p14:sldId id="278"/>
            <p14:sldId id="279"/>
            <p14:sldId id="280"/>
            <p14:sldId id="281"/>
            <p14:sldId id="282"/>
            <p14:sldId id="283"/>
            <p14:sldId id="287"/>
          </p14:sldIdLst>
        </p14:section>
        <p14:section name="অধ্যায় ২: ফুড অ্যাপ্লায়েন্স ও প্ল্যান্ট ইকুইপমেন্ট" id="{CB43EF46-5024-463E-A6E3-73884D5C3A2F}">
          <p14:sldIdLst>
            <p14:sldId id="260"/>
            <p14:sldId id="284"/>
            <p14:sldId id="285"/>
            <p14:sldId id="286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অধ্যায় ৩: মেজারিং ইন্সট্রুমেন্টস" id="{BE0D7D6A-67A4-4D1E-A6AB-0559B31988CA}">
          <p14:sldIdLst>
            <p14:sldId id="26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262"/>
            <p14:sldId id="304"/>
          </p14:sldIdLst>
        </p14:section>
        <p14:section name="অধ্যায় ৪: প্রসেস সিম্বল" id="{B5DEACEF-F9AB-40C6-B1BC-01C2B10EC2F7}">
          <p14:sldIdLst>
            <p14:sldId id="263"/>
            <p14:sldId id="306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19"/>
            <p14:sldId id="334"/>
            <p14:sldId id="335"/>
            <p14:sldId id="336"/>
            <p14:sldId id="337"/>
            <p14:sldId id="338"/>
          </p14:sldIdLst>
        </p14:section>
        <p14:section name="অধ্যায় ৫: স্কিম্যাটিক রিপ্রেজেন্টেশন" id="{7F4CD720-BCDC-4F97-81E6-5679E9F2D035}">
          <p14:sldIdLst>
            <p14:sldId id="264"/>
            <p14:sldId id="307"/>
            <p14:sldId id="308"/>
            <p14:sldId id="324"/>
            <p14:sldId id="325"/>
            <p14:sldId id="309"/>
            <p14:sldId id="310"/>
            <p14:sldId id="311"/>
            <p14:sldId id="323"/>
            <p14:sldId id="312"/>
            <p14:sldId id="326"/>
            <p14:sldId id="327"/>
            <p14:sldId id="328"/>
            <p14:sldId id="318"/>
            <p14:sldId id="329"/>
            <p14:sldId id="330"/>
            <p14:sldId id="331"/>
            <p14:sldId id="314"/>
            <p14:sldId id="332"/>
            <p14:sldId id="315"/>
            <p14:sldId id="316"/>
            <p14:sldId id="317"/>
            <p14:sldId id="320"/>
            <p14:sldId id="321"/>
            <p14:sldId id="341"/>
          </p14:sldIdLst>
        </p14:section>
        <p14:section name="অধ্যায় ৬–১০: ইউনিট, তাপ ও ব্যালেন্স" id="{4DB6F7C6-D7B4-4909-A77B-426A2F1AF9C1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ব্যবহারিক, মূল্যায়ন ও সমাপনী" id="{CB6B8E88-FA7B-4B2B-841D-31E9BA90D04A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6.xml"/><Relationship Id="rId8" Type="http://schemas.openxmlformats.org/officeDocument/2006/relationships/slide" Target="slides/slide17.xml"/><Relationship Id="rId9" Type="http://schemas.openxmlformats.org/officeDocument/2006/relationships/slide" Target="slides/slide18.xml"/><Relationship Id="rId10" Type="http://schemas.openxmlformats.org/officeDocument/2006/relationships/slide" Target="slides/slide19.xml"/><Relationship Id="rId11" Type="http://schemas.openxmlformats.org/officeDocument/2006/relationships/slide" Target="slides/slide20.xml"/><Relationship Id="rId12" Type="http://schemas.openxmlformats.org/officeDocument/2006/relationships/slide" Target="slides/slide21.xml"/><Relationship Id="rId13" Type="http://schemas.openxmlformats.org/officeDocument/2006/relationships/slide" Target="slides/slide22.xml"/><Relationship Id="rId14" Type="http://schemas.openxmlformats.org/officeDocument/2006/relationships/slide" Target="slides/slide23.xml"/><Relationship Id="rId15" Type="http://schemas.openxmlformats.org/officeDocument/2006/relationships/slide" Target="slides/slide24.xml"/><Relationship Id="rId16" Type="http://schemas.openxmlformats.org/officeDocument/2006/relationships/slide" Target="slides/slide25.xml"/><Relationship Id="rId17" Type="http://schemas.openxmlformats.org/officeDocument/2006/relationships/slide" Target="slides/slide26.xml"/><Relationship Id="rId18" Type="http://schemas.openxmlformats.org/officeDocument/2006/relationships/slide" Target="slides/slide27.xml"/><Relationship Id="rId19" Type="http://schemas.openxmlformats.org/officeDocument/2006/relationships/slide" Target="slides/slide28.xml"/><Relationship Id="rId20" Type="http://schemas.openxmlformats.org/officeDocument/2006/relationships/slide" Target="slides/slide29.xml"/><Relationship Id="rId21" Type="http://schemas.openxmlformats.org/officeDocument/2006/relationships/slide" Target="slides/slide30.xml"/><Relationship Id="rId22" Type="http://schemas.openxmlformats.org/officeDocument/2006/relationships/slide" Target="slides/slide31.xml"/><Relationship Id="rId23" Type="http://schemas.openxmlformats.org/officeDocument/2006/relationships/slide" Target="slides/slide3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91" Type="http://schemas.openxmlformats.org/officeDocument/2006/relationships/slide" Target="slides/slide86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>
                <a:latin typeface="Kalpurush"/>
                <a:ea typeface="Kalpurush"/>
                <a:cs typeface="Kalpurush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9pPr>
          </a:lstStyle>
          <a:p>
            <a:r>
              <a:rPr lang="en-US">
                <a:latin typeface="Kalpurush"/>
                <a:ea typeface="Kalpurush"/>
                <a:cs typeface="Kalpurush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Kalpurush"/>
                <a:ea typeface="Kalpurush"/>
                <a:cs typeface="Kalpurush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  <a:p>
            <a:pPr lvl="1"/>
            <a:r>
              <a:rPr lang="en-US">
                <a:latin typeface="Kalpurush"/>
                <a:ea typeface="Kalpurush"/>
                <a:cs typeface="Kalpurush"/>
              </a:rPr>
              <a:t>Second level</a:t>
            </a:r>
          </a:p>
          <a:p>
            <a:pPr lvl="2"/>
            <a:r>
              <a:rPr lang="en-US">
                <a:latin typeface="Kalpurush"/>
                <a:ea typeface="Kalpurush"/>
                <a:cs typeface="Kalpurush"/>
              </a:rPr>
              <a:t>Third level</a:t>
            </a:r>
          </a:p>
          <a:p>
            <a:pPr lvl="3"/>
            <a:r>
              <a:rPr lang="en-US">
                <a:latin typeface="Kalpurush"/>
                <a:ea typeface="Kalpurush"/>
                <a:cs typeface="Kalpurush"/>
              </a:rPr>
              <a:t>Fourth level</a:t>
            </a:r>
          </a:p>
          <a:p>
            <a:pPr lvl="4"/>
            <a:r>
              <a:rPr lang="en-US">
                <a:latin typeface="Kalpurush"/>
                <a:ea typeface="Kalpurush"/>
                <a:cs typeface="Kalpurush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Kalpurush"/>
                <a:ea typeface="Kalpurush"/>
                <a:cs typeface="Kalpurush"/>
              </a:defRPr>
            </a:lvl1pPr>
          </a:lstStyle>
          <a:p>
            <a:r>
              <a:rPr lang="en-US">
                <a:latin typeface="Kalpurush"/>
                <a:ea typeface="Kalpurush"/>
                <a:cs typeface="Kalpurush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9pPr>
          </a:lstStyle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Kalpurush"/>
                <a:ea typeface="Kalpurush"/>
                <a:cs typeface="Kalpurush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Kalpurush"/>
                <a:ea typeface="Kalpurush"/>
                <a:cs typeface="Kalpurush"/>
              </a:defRPr>
            </a:lvl1pPr>
            <a:lvl2pPr>
              <a:defRPr sz="2400">
                <a:latin typeface="Kalpurush"/>
                <a:ea typeface="Kalpurush"/>
                <a:cs typeface="Kalpurush"/>
              </a:defRPr>
            </a:lvl2pPr>
            <a:lvl3pPr>
              <a:defRPr sz="2000">
                <a:latin typeface="Kalpurush"/>
                <a:ea typeface="Kalpurush"/>
                <a:cs typeface="Kalpurush"/>
              </a:defRPr>
            </a:lvl3pPr>
            <a:lvl4pPr>
              <a:defRPr sz="1800">
                <a:latin typeface="Kalpurush"/>
                <a:ea typeface="Kalpurush"/>
                <a:cs typeface="Kalpurush"/>
              </a:defRPr>
            </a:lvl4pPr>
            <a:lvl5pPr>
              <a:defRPr sz="1800">
                <a:latin typeface="Kalpurush"/>
                <a:ea typeface="Kalpurush"/>
                <a:cs typeface="Kalpurush"/>
              </a:defRPr>
            </a:lvl5pPr>
            <a:lvl6pPr>
              <a:defRPr sz="1800">
                <a:latin typeface="Kalpurush"/>
                <a:ea typeface="Kalpurush"/>
                <a:cs typeface="Kalpurush"/>
              </a:defRPr>
            </a:lvl6pPr>
            <a:lvl7pPr>
              <a:defRPr sz="1800">
                <a:latin typeface="Kalpurush"/>
                <a:ea typeface="Kalpurush"/>
                <a:cs typeface="Kalpurush"/>
              </a:defRPr>
            </a:lvl7pPr>
            <a:lvl8pPr>
              <a:defRPr sz="1800">
                <a:latin typeface="Kalpurush"/>
                <a:ea typeface="Kalpurush"/>
                <a:cs typeface="Kalpurush"/>
              </a:defRPr>
            </a:lvl8pPr>
            <a:lvl9pPr>
              <a:defRPr sz="1800">
                <a:latin typeface="Kalpurush"/>
                <a:ea typeface="Kalpurush"/>
                <a:cs typeface="Kalpurush"/>
              </a:defRPr>
            </a:lvl9pPr>
          </a:lstStyle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  <a:p>
            <a:pPr lvl="1"/>
            <a:r>
              <a:rPr lang="en-US">
                <a:latin typeface="Kalpurush"/>
                <a:ea typeface="Kalpurush"/>
                <a:cs typeface="Kalpurush"/>
              </a:rPr>
              <a:t>Second level</a:t>
            </a:r>
          </a:p>
          <a:p>
            <a:pPr lvl="2"/>
            <a:r>
              <a:rPr lang="en-US">
                <a:latin typeface="Kalpurush"/>
                <a:ea typeface="Kalpurush"/>
                <a:cs typeface="Kalpurush"/>
              </a:rPr>
              <a:t>Third level</a:t>
            </a:r>
          </a:p>
          <a:p>
            <a:pPr lvl="3"/>
            <a:r>
              <a:rPr lang="en-US">
                <a:latin typeface="Kalpurush"/>
                <a:ea typeface="Kalpurush"/>
                <a:cs typeface="Kalpurush"/>
              </a:rPr>
              <a:t>Fourth level</a:t>
            </a:r>
          </a:p>
          <a:p>
            <a:pPr lvl="4"/>
            <a:r>
              <a:rPr lang="en-US">
                <a:latin typeface="Kalpurush"/>
                <a:ea typeface="Kalpurush"/>
                <a:cs typeface="Kalpurush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Kalpurush"/>
                <a:ea typeface="Kalpurush"/>
                <a:cs typeface="Kalpurush"/>
              </a:defRPr>
            </a:lvl1pPr>
            <a:lvl2pPr>
              <a:defRPr sz="2400">
                <a:latin typeface="Kalpurush"/>
                <a:ea typeface="Kalpurush"/>
                <a:cs typeface="Kalpurush"/>
              </a:defRPr>
            </a:lvl2pPr>
            <a:lvl3pPr>
              <a:defRPr sz="2000">
                <a:latin typeface="Kalpurush"/>
                <a:ea typeface="Kalpurush"/>
                <a:cs typeface="Kalpurush"/>
              </a:defRPr>
            </a:lvl3pPr>
            <a:lvl4pPr>
              <a:defRPr sz="1800">
                <a:latin typeface="Kalpurush"/>
                <a:ea typeface="Kalpurush"/>
                <a:cs typeface="Kalpurush"/>
              </a:defRPr>
            </a:lvl4pPr>
            <a:lvl5pPr>
              <a:defRPr sz="1800">
                <a:latin typeface="Kalpurush"/>
                <a:ea typeface="Kalpurush"/>
                <a:cs typeface="Kalpurush"/>
              </a:defRPr>
            </a:lvl5pPr>
            <a:lvl6pPr>
              <a:defRPr sz="1800">
                <a:latin typeface="Kalpurush"/>
                <a:ea typeface="Kalpurush"/>
                <a:cs typeface="Kalpurush"/>
              </a:defRPr>
            </a:lvl6pPr>
            <a:lvl7pPr>
              <a:defRPr sz="1800">
                <a:latin typeface="Kalpurush"/>
                <a:ea typeface="Kalpurush"/>
                <a:cs typeface="Kalpurush"/>
              </a:defRPr>
            </a:lvl7pPr>
            <a:lvl8pPr>
              <a:defRPr sz="1800">
                <a:latin typeface="Kalpurush"/>
                <a:ea typeface="Kalpurush"/>
                <a:cs typeface="Kalpurush"/>
              </a:defRPr>
            </a:lvl8pPr>
            <a:lvl9pPr>
              <a:defRPr sz="1800">
                <a:latin typeface="Kalpurush"/>
                <a:ea typeface="Kalpurush"/>
                <a:cs typeface="Kalpurush"/>
              </a:defRPr>
            </a:lvl9pPr>
          </a:lstStyle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  <a:p>
            <a:pPr lvl="1"/>
            <a:r>
              <a:rPr lang="en-US">
                <a:latin typeface="Kalpurush"/>
                <a:ea typeface="Kalpurush"/>
                <a:cs typeface="Kalpurush"/>
              </a:rPr>
              <a:t>Second level</a:t>
            </a:r>
          </a:p>
          <a:p>
            <a:pPr lvl="2"/>
            <a:r>
              <a:rPr lang="en-US">
                <a:latin typeface="Kalpurush"/>
                <a:ea typeface="Kalpurush"/>
                <a:cs typeface="Kalpurush"/>
              </a:rPr>
              <a:t>Third level</a:t>
            </a:r>
          </a:p>
          <a:p>
            <a:pPr lvl="3"/>
            <a:r>
              <a:rPr lang="en-US">
                <a:latin typeface="Kalpurush"/>
                <a:ea typeface="Kalpurush"/>
                <a:cs typeface="Kalpurush"/>
              </a:rPr>
              <a:t>Fourth level</a:t>
            </a:r>
          </a:p>
          <a:p>
            <a:pPr lvl="4"/>
            <a:r>
              <a:rPr lang="en-US">
                <a:latin typeface="Kalpurush"/>
                <a:ea typeface="Kalpurush"/>
                <a:cs typeface="Kalpurush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Kalpurush"/>
                <a:ea typeface="Kalpurush"/>
                <a:cs typeface="Kalpurush"/>
              </a:defRPr>
            </a:lvl1pPr>
          </a:lstStyle>
          <a:p>
            <a:r>
              <a:rPr lang="en-US">
                <a:latin typeface="Kalpurush"/>
                <a:ea typeface="Kalpurush"/>
                <a:cs typeface="Kalpurush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Kalpurush"/>
                <a:ea typeface="Kalpurush"/>
                <a:cs typeface="Kalpurush"/>
              </a:defRPr>
            </a:lvl1pPr>
            <a:lvl2pPr marL="457200" indent="0">
              <a:buNone/>
              <a:defRPr sz="2000" b="1">
                <a:latin typeface="Kalpurush"/>
                <a:ea typeface="Kalpurush"/>
                <a:cs typeface="Kalpurush"/>
              </a:defRPr>
            </a:lvl2pPr>
            <a:lvl3pPr marL="914400" indent="0">
              <a:buNone/>
              <a:defRPr sz="1800" b="1">
                <a:latin typeface="Kalpurush"/>
                <a:ea typeface="Kalpurush"/>
                <a:cs typeface="Kalpurush"/>
              </a:defRPr>
            </a:lvl3pPr>
            <a:lvl4pPr marL="1371600" indent="0">
              <a:buNone/>
              <a:defRPr sz="1600" b="1">
                <a:latin typeface="Kalpurush"/>
                <a:ea typeface="Kalpurush"/>
                <a:cs typeface="Kalpurush"/>
              </a:defRPr>
            </a:lvl4pPr>
            <a:lvl5pPr marL="1828800" indent="0">
              <a:buNone/>
              <a:defRPr sz="1600" b="1">
                <a:latin typeface="Kalpurush"/>
                <a:ea typeface="Kalpurush"/>
                <a:cs typeface="Kalpurush"/>
              </a:defRPr>
            </a:lvl5pPr>
            <a:lvl6pPr marL="2286000" indent="0">
              <a:buNone/>
              <a:defRPr sz="1600" b="1">
                <a:latin typeface="Kalpurush"/>
                <a:ea typeface="Kalpurush"/>
                <a:cs typeface="Kalpurush"/>
              </a:defRPr>
            </a:lvl6pPr>
            <a:lvl7pPr marL="2743200" indent="0">
              <a:buNone/>
              <a:defRPr sz="1600" b="1">
                <a:latin typeface="Kalpurush"/>
                <a:ea typeface="Kalpurush"/>
                <a:cs typeface="Kalpurush"/>
              </a:defRPr>
            </a:lvl7pPr>
            <a:lvl8pPr marL="3200400" indent="0">
              <a:buNone/>
              <a:defRPr sz="1600" b="1">
                <a:latin typeface="Kalpurush"/>
                <a:ea typeface="Kalpurush"/>
                <a:cs typeface="Kalpurush"/>
              </a:defRPr>
            </a:lvl8pPr>
            <a:lvl9pPr marL="3657600" indent="0">
              <a:buNone/>
              <a:defRPr sz="1600" b="1">
                <a:latin typeface="Kalpurush"/>
                <a:ea typeface="Kalpurush"/>
                <a:cs typeface="Kalpurush"/>
              </a:defRPr>
            </a:lvl9pPr>
          </a:lstStyle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Kalpurush"/>
                <a:ea typeface="Kalpurush"/>
                <a:cs typeface="Kalpurush"/>
              </a:defRPr>
            </a:lvl1pPr>
            <a:lvl2pPr>
              <a:defRPr sz="2000">
                <a:latin typeface="Kalpurush"/>
                <a:ea typeface="Kalpurush"/>
                <a:cs typeface="Kalpurush"/>
              </a:defRPr>
            </a:lvl2pPr>
            <a:lvl3pPr>
              <a:defRPr sz="1800">
                <a:latin typeface="Kalpurush"/>
                <a:ea typeface="Kalpurush"/>
                <a:cs typeface="Kalpurush"/>
              </a:defRPr>
            </a:lvl3pPr>
            <a:lvl4pPr>
              <a:defRPr sz="1600">
                <a:latin typeface="Kalpurush"/>
                <a:ea typeface="Kalpurush"/>
                <a:cs typeface="Kalpurush"/>
              </a:defRPr>
            </a:lvl4pPr>
            <a:lvl5pPr>
              <a:defRPr sz="1600">
                <a:latin typeface="Kalpurush"/>
                <a:ea typeface="Kalpurush"/>
                <a:cs typeface="Kalpurush"/>
              </a:defRPr>
            </a:lvl5pPr>
            <a:lvl6pPr>
              <a:defRPr sz="1600">
                <a:latin typeface="Kalpurush"/>
                <a:ea typeface="Kalpurush"/>
                <a:cs typeface="Kalpurush"/>
              </a:defRPr>
            </a:lvl6pPr>
            <a:lvl7pPr>
              <a:defRPr sz="1600">
                <a:latin typeface="Kalpurush"/>
                <a:ea typeface="Kalpurush"/>
                <a:cs typeface="Kalpurush"/>
              </a:defRPr>
            </a:lvl7pPr>
            <a:lvl8pPr>
              <a:defRPr sz="1600">
                <a:latin typeface="Kalpurush"/>
                <a:ea typeface="Kalpurush"/>
                <a:cs typeface="Kalpurush"/>
              </a:defRPr>
            </a:lvl8pPr>
            <a:lvl9pPr>
              <a:defRPr sz="1600">
                <a:latin typeface="Kalpurush"/>
                <a:ea typeface="Kalpurush"/>
                <a:cs typeface="Kalpurush"/>
              </a:defRPr>
            </a:lvl9pPr>
          </a:lstStyle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  <a:p>
            <a:pPr lvl="1"/>
            <a:r>
              <a:rPr lang="en-US">
                <a:latin typeface="Kalpurush"/>
                <a:ea typeface="Kalpurush"/>
                <a:cs typeface="Kalpurush"/>
              </a:rPr>
              <a:t>Second level</a:t>
            </a:r>
          </a:p>
          <a:p>
            <a:pPr lvl="2"/>
            <a:r>
              <a:rPr lang="en-US">
                <a:latin typeface="Kalpurush"/>
                <a:ea typeface="Kalpurush"/>
                <a:cs typeface="Kalpurush"/>
              </a:rPr>
              <a:t>Third level</a:t>
            </a:r>
          </a:p>
          <a:p>
            <a:pPr lvl="3"/>
            <a:r>
              <a:rPr lang="en-US">
                <a:latin typeface="Kalpurush"/>
                <a:ea typeface="Kalpurush"/>
                <a:cs typeface="Kalpurush"/>
              </a:rPr>
              <a:t>Fourth level</a:t>
            </a:r>
          </a:p>
          <a:p>
            <a:pPr lvl="4"/>
            <a:r>
              <a:rPr lang="en-US">
                <a:latin typeface="Kalpurush"/>
                <a:ea typeface="Kalpurush"/>
                <a:cs typeface="Kalpurush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Kalpurush"/>
                <a:ea typeface="Kalpurush"/>
                <a:cs typeface="Kalpurush"/>
              </a:defRPr>
            </a:lvl1pPr>
            <a:lvl2pPr marL="457200" indent="0">
              <a:buNone/>
              <a:defRPr sz="2000" b="1">
                <a:latin typeface="Kalpurush"/>
                <a:ea typeface="Kalpurush"/>
                <a:cs typeface="Kalpurush"/>
              </a:defRPr>
            </a:lvl2pPr>
            <a:lvl3pPr marL="914400" indent="0">
              <a:buNone/>
              <a:defRPr sz="1800" b="1">
                <a:latin typeface="Kalpurush"/>
                <a:ea typeface="Kalpurush"/>
                <a:cs typeface="Kalpurush"/>
              </a:defRPr>
            </a:lvl3pPr>
            <a:lvl4pPr marL="1371600" indent="0">
              <a:buNone/>
              <a:defRPr sz="1600" b="1">
                <a:latin typeface="Kalpurush"/>
                <a:ea typeface="Kalpurush"/>
                <a:cs typeface="Kalpurush"/>
              </a:defRPr>
            </a:lvl4pPr>
            <a:lvl5pPr marL="1828800" indent="0">
              <a:buNone/>
              <a:defRPr sz="1600" b="1">
                <a:latin typeface="Kalpurush"/>
                <a:ea typeface="Kalpurush"/>
                <a:cs typeface="Kalpurush"/>
              </a:defRPr>
            </a:lvl5pPr>
            <a:lvl6pPr marL="2286000" indent="0">
              <a:buNone/>
              <a:defRPr sz="1600" b="1">
                <a:latin typeface="Kalpurush"/>
                <a:ea typeface="Kalpurush"/>
                <a:cs typeface="Kalpurush"/>
              </a:defRPr>
            </a:lvl6pPr>
            <a:lvl7pPr marL="2743200" indent="0">
              <a:buNone/>
              <a:defRPr sz="1600" b="1">
                <a:latin typeface="Kalpurush"/>
                <a:ea typeface="Kalpurush"/>
                <a:cs typeface="Kalpurush"/>
              </a:defRPr>
            </a:lvl7pPr>
            <a:lvl8pPr marL="3200400" indent="0">
              <a:buNone/>
              <a:defRPr sz="1600" b="1">
                <a:latin typeface="Kalpurush"/>
                <a:ea typeface="Kalpurush"/>
                <a:cs typeface="Kalpurush"/>
              </a:defRPr>
            </a:lvl8pPr>
            <a:lvl9pPr marL="3657600" indent="0">
              <a:buNone/>
              <a:defRPr sz="1600" b="1">
                <a:latin typeface="Kalpurush"/>
                <a:ea typeface="Kalpurush"/>
                <a:cs typeface="Kalpurush"/>
              </a:defRPr>
            </a:lvl9pPr>
          </a:lstStyle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Kalpurush"/>
                <a:ea typeface="Kalpurush"/>
                <a:cs typeface="Kalpurush"/>
              </a:defRPr>
            </a:lvl1pPr>
            <a:lvl2pPr>
              <a:defRPr sz="2000">
                <a:latin typeface="Kalpurush"/>
                <a:ea typeface="Kalpurush"/>
                <a:cs typeface="Kalpurush"/>
              </a:defRPr>
            </a:lvl2pPr>
            <a:lvl3pPr>
              <a:defRPr sz="1800">
                <a:latin typeface="Kalpurush"/>
                <a:ea typeface="Kalpurush"/>
                <a:cs typeface="Kalpurush"/>
              </a:defRPr>
            </a:lvl3pPr>
            <a:lvl4pPr>
              <a:defRPr sz="1600">
                <a:latin typeface="Kalpurush"/>
                <a:ea typeface="Kalpurush"/>
                <a:cs typeface="Kalpurush"/>
              </a:defRPr>
            </a:lvl4pPr>
            <a:lvl5pPr>
              <a:defRPr sz="1600">
                <a:latin typeface="Kalpurush"/>
                <a:ea typeface="Kalpurush"/>
                <a:cs typeface="Kalpurush"/>
              </a:defRPr>
            </a:lvl5pPr>
            <a:lvl6pPr>
              <a:defRPr sz="1600">
                <a:latin typeface="Kalpurush"/>
                <a:ea typeface="Kalpurush"/>
                <a:cs typeface="Kalpurush"/>
              </a:defRPr>
            </a:lvl6pPr>
            <a:lvl7pPr>
              <a:defRPr sz="1600">
                <a:latin typeface="Kalpurush"/>
                <a:ea typeface="Kalpurush"/>
                <a:cs typeface="Kalpurush"/>
              </a:defRPr>
            </a:lvl7pPr>
            <a:lvl8pPr>
              <a:defRPr sz="1600">
                <a:latin typeface="Kalpurush"/>
                <a:ea typeface="Kalpurush"/>
                <a:cs typeface="Kalpurush"/>
              </a:defRPr>
            </a:lvl8pPr>
            <a:lvl9pPr>
              <a:defRPr sz="1600">
                <a:latin typeface="Kalpurush"/>
                <a:ea typeface="Kalpurush"/>
                <a:cs typeface="Kalpurush"/>
              </a:defRPr>
            </a:lvl9pPr>
          </a:lstStyle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  <a:p>
            <a:pPr lvl="1"/>
            <a:r>
              <a:rPr lang="en-US">
                <a:latin typeface="Kalpurush"/>
                <a:ea typeface="Kalpurush"/>
                <a:cs typeface="Kalpurush"/>
              </a:rPr>
              <a:t>Second level</a:t>
            </a:r>
          </a:p>
          <a:p>
            <a:pPr lvl="2"/>
            <a:r>
              <a:rPr lang="en-US">
                <a:latin typeface="Kalpurush"/>
                <a:ea typeface="Kalpurush"/>
                <a:cs typeface="Kalpurush"/>
              </a:rPr>
              <a:t>Third level</a:t>
            </a:r>
          </a:p>
          <a:p>
            <a:pPr lvl="3"/>
            <a:r>
              <a:rPr lang="en-US">
                <a:latin typeface="Kalpurush"/>
                <a:ea typeface="Kalpurush"/>
                <a:cs typeface="Kalpurush"/>
              </a:rPr>
              <a:t>Fourth level</a:t>
            </a:r>
          </a:p>
          <a:p>
            <a:pPr lvl="4"/>
            <a:r>
              <a:rPr lang="en-US">
                <a:latin typeface="Kalpurush"/>
                <a:ea typeface="Kalpurush"/>
                <a:cs typeface="Kalpurush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Kalpurush"/>
                <a:ea typeface="Kalpurush"/>
                <a:cs typeface="Kalpurush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Kalpurush"/>
                <a:ea typeface="Kalpurush"/>
                <a:cs typeface="Kalpurush"/>
              </a:defRPr>
            </a:lvl1pPr>
          </a:lstStyle>
          <a:p>
            <a:r>
              <a:rPr lang="en-US">
                <a:latin typeface="Kalpurush"/>
                <a:ea typeface="Kalpurush"/>
                <a:cs typeface="Kalpurush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Kalpurush"/>
                <a:ea typeface="Kalpurush"/>
                <a:cs typeface="Kalpurush"/>
              </a:defRPr>
            </a:lvl1pPr>
            <a:lvl2pPr>
              <a:defRPr sz="2800">
                <a:latin typeface="Kalpurush"/>
                <a:ea typeface="Kalpurush"/>
                <a:cs typeface="Kalpurush"/>
              </a:defRPr>
            </a:lvl2pPr>
            <a:lvl3pPr>
              <a:defRPr sz="2400">
                <a:latin typeface="Kalpurush"/>
                <a:ea typeface="Kalpurush"/>
                <a:cs typeface="Kalpurush"/>
              </a:defRPr>
            </a:lvl3pPr>
            <a:lvl4pPr>
              <a:defRPr sz="2000">
                <a:latin typeface="Kalpurush"/>
                <a:ea typeface="Kalpurush"/>
                <a:cs typeface="Kalpurush"/>
              </a:defRPr>
            </a:lvl4pPr>
            <a:lvl5pPr>
              <a:defRPr sz="2000">
                <a:latin typeface="Kalpurush"/>
                <a:ea typeface="Kalpurush"/>
                <a:cs typeface="Kalpurush"/>
              </a:defRPr>
            </a:lvl5pPr>
            <a:lvl6pPr>
              <a:defRPr sz="2000">
                <a:latin typeface="Kalpurush"/>
                <a:ea typeface="Kalpurush"/>
                <a:cs typeface="Kalpurush"/>
              </a:defRPr>
            </a:lvl6pPr>
            <a:lvl7pPr>
              <a:defRPr sz="2000">
                <a:latin typeface="Kalpurush"/>
                <a:ea typeface="Kalpurush"/>
                <a:cs typeface="Kalpurush"/>
              </a:defRPr>
            </a:lvl7pPr>
            <a:lvl8pPr>
              <a:defRPr sz="2000">
                <a:latin typeface="Kalpurush"/>
                <a:ea typeface="Kalpurush"/>
                <a:cs typeface="Kalpurush"/>
              </a:defRPr>
            </a:lvl8pPr>
            <a:lvl9pPr>
              <a:defRPr sz="2000">
                <a:latin typeface="Kalpurush"/>
                <a:ea typeface="Kalpurush"/>
                <a:cs typeface="Kalpurush"/>
              </a:defRPr>
            </a:lvl9pPr>
          </a:lstStyle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  <a:p>
            <a:pPr lvl="1"/>
            <a:r>
              <a:rPr lang="en-US">
                <a:latin typeface="Kalpurush"/>
                <a:ea typeface="Kalpurush"/>
                <a:cs typeface="Kalpurush"/>
              </a:rPr>
              <a:t>Second level</a:t>
            </a:r>
          </a:p>
          <a:p>
            <a:pPr lvl="2"/>
            <a:r>
              <a:rPr lang="en-US">
                <a:latin typeface="Kalpurush"/>
                <a:ea typeface="Kalpurush"/>
                <a:cs typeface="Kalpurush"/>
              </a:rPr>
              <a:t>Third level</a:t>
            </a:r>
          </a:p>
          <a:p>
            <a:pPr lvl="3"/>
            <a:r>
              <a:rPr lang="en-US">
                <a:latin typeface="Kalpurush"/>
                <a:ea typeface="Kalpurush"/>
                <a:cs typeface="Kalpurush"/>
              </a:rPr>
              <a:t>Fourth level</a:t>
            </a:r>
          </a:p>
          <a:p>
            <a:pPr lvl="4"/>
            <a:r>
              <a:rPr lang="en-US">
                <a:latin typeface="Kalpurush"/>
                <a:ea typeface="Kalpurush"/>
                <a:cs typeface="Kalpurush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Kalpurush"/>
                <a:ea typeface="Kalpurush"/>
                <a:cs typeface="Kalpurush"/>
              </a:defRPr>
            </a:lvl1pPr>
            <a:lvl2pPr marL="457200" indent="0">
              <a:buNone/>
              <a:defRPr sz="1200">
                <a:latin typeface="Kalpurush"/>
                <a:ea typeface="Kalpurush"/>
                <a:cs typeface="Kalpurush"/>
              </a:defRPr>
            </a:lvl2pPr>
            <a:lvl3pPr marL="914400" indent="0">
              <a:buNone/>
              <a:defRPr sz="1000">
                <a:latin typeface="Kalpurush"/>
                <a:ea typeface="Kalpurush"/>
                <a:cs typeface="Kalpurush"/>
              </a:defRPr>
            </a:lvl3pPr>
            <a:lvl4pPr marL="1371600" indent="0">
              <a:buNone/>
              <a:defRPr sz="900">
                <a:latin typeface="Kalpurush"/>
                <a:ea typeface="Kalpurush"/>
                <a:cs typeface="Kalpurush"/>
              </a:defRPr>
            </a:lvl4pPr>
            <a:lvl5pPr marL="1828800" indent="0">
              <a:buNone/>
              <a:defRPr sz="900">
                <a:latin typeface="Kalpurush"/>
                <a:ea typeface="Kalpurush"/>
                <a:cs typeface="Kalpurush"/>
              </a:defRPr>
            </a:lvl5pPr>
            <a:lvl6pPr marL="2286000" indent="0">
              <a:buNone/>
              <a:defRPr sz="900">
                <a:latin typeface="Kalpurush"/>
                <a:ea typeface="Kalpurush"/>
                <a:cs typeface="Kalpurush"/>
              </a:defRPr>
            </a:lvl6pPr>
            <a:lvl7pPr marL="2743200" indent="0">
              <a:buNone/>
              <a:defRPr sz="900">
                <a:latin typeface="Kalpurush"/>
                <a:ea typeface="Kalpurush"/>
                <a:cs typeface="Kalpurush"/>
              </a:defRPr>
            </a:lvl7pPr>
            <a:lvl8pPr marL="3200400" indent="0">
              <a:buNone/>
              <a:defRPr sz="900">
                <a:latin typeface="Kalpurush"/>
                <a:ea typeface="Kalpurush"/>
                <a:cs typeface="Kalpurush"/>
              </a:defRPr>
            </a:lvl8pPr>
            <a:lvl9pPr marL="3657600" indent="0">
              <a:buNone/>
              <a:defRPr sz="900">
                <a:latin typeface="Kalpurush"/>
                <a:ea typeface="Kalpurush"/>
                <a:cs typeface="Kalpurush"/>
              </a:defRPr>
            </a:lvl9pPr>
          </a:lstStyle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Kalpurush"/>
                <a:ea typeface="Kalpurush"/>
                <a:cs typeface="Kalpurush"/>
              </a:defRPr>
            </a:lvl1pPr>
          </a:lstStyle>
          <a:p>
            <a:r>
              <a:rPr lang="en-US">
                <a:latin typeface="Kalpurush"/>
                <a:ea typeface="Kalpurush"/>
                <a:cs typeface="Kalpurush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Kalpurush"/>
                <a:ea typeface="Kalpurush"/>
                <a:cs typeface="Kalpurush"/>
              </a:defRPr>
            </a:lvl1pPr>
            <a:lvl2pPr marL="457200" indent="0">
              <a:buNone/>
              <a:defRPr sz="2800">
                <a:latin typeface="Kalpurush"/>
                <a:ea typeface="Kalpurush"/>
                <a:cs typeface="Kalpurush"/>
              </a:defRPr>
            </a:lvl2pPr>
            <a:lvl3pPr marL="914400" indent="0">
              <a:buNone/>
              <a:defRPr sz="2400">
                <a:latin typeface="Kalpurush"/>
                <a:ea typeface="Kalpurush"/>
                <a:cs typeface="Kalpurush"/>
              </a:defRPr>
            </a:lvl3pPr>
            <a:lvl4pPr marL="1371600" indent="0">
              <a:buNone/>
              <a:defRPr sz="2000">
                <a:latin typeface="Kalpurush"/>
                <a:ea typeface="Kalpurush"/>
                <a:cs typeface="Kalpurush"/>
              </a:defRPr>
            </a:lvl4pPr>
            <a:lvl5pPr marL="1828800" indent="0">
              <a:buNone/>
              <a:defRPr sz="2000">
                <a:latin typeface="Kalpurush"/>
                <a:ea typeface="Kalpurush"/>
                <a:cs typeface="Kalpurush"/>
              </a:defRPr>
            </a:lvl5pPr>
            <a:lvl6pPr marL="2286000" indent="0">
              <a:buNone/>
              <a:defRPr sz="2000">
                <a:latin typeface="Kalpurush"/>
                <a:ea typeface="Kalpurush"/>
                <a:cs typeface="Kalpurush"/>
              </a:defRPr>
            </a:lvl6pPr>
            <a:lvl7pPr marL="2743200" indent="0">
              <a:buNone/>
              <a:defRPr sz="2000">
                <a:latin typeface="Kalpurush"/>
                <a:ea typeface="Kalpurush"/>
                <a:cs typeface="Kalpurush"/>
              </a:defRPr>
            </a:lvl7pPr>
            <a:lvl8pPr marL="3200400" indent="0">
              <a:buNone/>
              <a:defRPr sz="2000">
                <a:latin typeface="Kalpurush"/>
                <a:ea typeface="Kalpurush"/>
                <a:cs typeface="Kalpurush"/>
              </a:defRPr>
            </a:lvl8pPr>
            <a:lvl9pPr marL="3657600" indent="0">
              <a:buNone/>
              <a:defRPr sz="2000">
                <a:latin typeface="Kalpurush"/>
                <a:ea typeface="Kalpurush"/>
                <a:cs typeface="Kalpurush"/>
              </a:defRPr>
            </a:lvl9pPr>
          </a:lstStyle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Kalpurush"/>
                <a:ea typeface="Kalpurush"/>
                <a:cs typeface="Kalpurush"/>
              </a:defRPr>
            </a:lvl1pPr>
            <a:lvl2pPr marL="457200" indent="0">
              <a:buNone/>
              <a:defRPr sz="1200">
                <a:latin typeface="Kalpurush"/>
                <a:ea typeface="Kalpurush"/>
                <a:cs typeface="Kalpurush"/>
              </a:defRPr>
            </a:lvl2pPr>
            <a:lvl3pPr marL="914400" indent="0">
              <a:buNone/>
              <a:defRPr sz="1000">
                <a:latin typeface="Kalpurush"/>
                <a:ea typeface="Kalpurush"/>
                <a:cs typeface="Kalpurush"/>
              </a:defRPr>
            </a:lvl3pPr>
            <a:lvl4pPr marL="1371600" indent="0">
              <a:buNone/>
              <a:defRPr sz="900">
                <a:latin typeface="Kalpurush"/>
                <a:ea typeface="Kalpurush"/>
                <a:cs typeface="Kalpurush"/>
              </a:defRPr>
            </a:lvl4pPr>
            <a:lvl5pPr marL="1828800" indent="0">
              <a:buNone/>
              <a:defRPr sz="900">
                <a:latin typeface="Kalpurush"/>
                <a:ea typeface="Kalpurush"/>
                <a:cs typeface="Kalpurush"/>
              </a:defRPr>
            </a:lvl5pPr>
            <a:lvl6pPr marL="2286000" indent="0">
              <a:buNone/>
              <a:defRPr sz="900">
                <a:latin typeface="Kalpurush"/>
                <a:ea typeface="Kalpurush"/>
                <a:cs typeface="Kalpurush"/>
              </a:defRPr>
            </a:lvl6pPr>
            <a:lvl7pPr marL="2743200" indent="0">
              <a:buNone/>
              <a:defRPr sz="900">
                <a:latin typeface="Kalpurush"/>
                <a:ea typeface="Kalpurush"/>
                <a:cs typeface="Kalpurush"/>
              </a:defRPr>
            </a:lvl7pPr>
            <a:lvl8pPr marL="3200400" indent="0">
              <a:buNone/>
              <a:defRPr sz="900">
                <a:latin typeface="Kalpurush"/>
                <a:ea typeface="Kalpurush"/>
                <a:cs typeface="Kalpurush"/>
              </a:defRPr>
            </a:lvl8pPr>
            <a:lvl9pPr marL="3657600" indent="0">
              <a:buNone/>
              <a:defRPr sz="900">
                <a:latin typeface="Kalpurush"/>
                <a:ea typeface="Kalpurush"/>
                <a:cs typeface="Kalpurush"/>
              </a:defRPr>
            </a:lvl9pPr>
          </a:lstStyle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Kalpurush"/>
                <a:ea typeface="Kalpurush"/>
                <a:cs typeface="Kalpurush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  <a:p>
            <a:pPr lvl="1"/>
            <a:r>
              <a:rPr lang="en-US">
                <a:latin typeface="Kalpurush"/>
                <a:ea typeface="Kalpurush"/>
                <a:cs typeface="Kalpurush"/>
              </a:rPr>
              <a:t>Second level</a:t>
            </a:r>
          </a:p>
          <a:p>
            <a:pPr lvl="2"/>
            <a:r>
              <a:rPr lang="en-US">
                <a:latin typeface="Kalpurush"/>
                <a:ea typeface="Kalpurush"/>
                <a:cs typeface="Kalpurush"/>
              </a:rPr>
              <a:t>Third level</a:t>
            </a:r>
          </a:p>
          <a:p>
            <a:pPr lvl="3"/>
            <a:r>
              <a:rPr lang="en-US">
                <a:latin typeface="Kalpurush"/>
                <a:ea typeface="Kalpurush"/>
                <a:cs typeface="Kalpurush"/>
              </a:rPr>
              <a:t>Fourth level</a:t>
            </a:r>
          </a:p>
          <a:p>
            <a:pPr lvl="4"/>
            <a:r>
              <a:rPr lang="en-US">
                <a:latin typeface="Kalpurush"/>
                <a:ea typeface="Kalpurush"/>
                <a:cs typeface="Kalpurush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>
                <a:latin typeface="Kalpurush"/>
                <a:ea typeface="Kalpurush"/>
                <a:cs typeface="Kalpurush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  <a:p>
            <a:pPr lvl="1"/>
            <a:r>
              <a:rPr lang="en-US">
                <a:latin typeface="Kalpurush"/>
                <a:ea typeface="Kalpurush"/>
                <a:cs typeface="Kalpurush"/>
              </a:rPr>
              <a:t>Second level</a:t>
            </a:r>
          </a:p>
          <a:p>
            <a:pPr lvl="2"/>
            <a:r>
              <a:rPr lang="en-US">
                <a:latin typeface="Kalpurush"/>
                <a:ea typeface="Kalpurush"/>
                <a:cs typeface="Kalpurush"/>
              </a:rPr>
              <a:t>Third level</a:t>
            </a:r>
          </a:p>
          <a:p>
            <a:pPr lvl="3"/>
            <a:r>
              <a:rPr lang="en-US">
                <a:latin typeface="Kalpurush"/>
                <a:ea typeface="Kalpurush"/>
                <a:cs typeface="Kalpurush"/>
              </a:rPr>
              <a:t>Fourth level</a:t>
            </a:r>
          </a:p>
          <a:p>
            <a:pPr lvl="4"/>
            <a:r>
              <a:rPr lang="en-US">
                <a:latin typeface="Kalpurush"/>
                <a:ea typeface="Kalpurush"/>
                <a:cs typeface="Kalpurush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Kalpurush"/>
                <a:ea typeface="Kalpurush"/>
                <a:cs typeface="Kalpurush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latin typeface="Kalpurush"/>
                <a:ea typeface="Kalpurush"/>
                <a:cs typeface="Kalpurush"/>
              </a:rPr>
              <a:t>Click to edit Master text styles</a:t>
            </a:r>
          </a:p>
          <a:p>
            <a:pPr lvl="1"/>
            <a:r>
              <a:rPr lang="en-US">
                <a:latin typeface="Kalpurush"/>
                <a:ea typeface="Kalpurush"/>
                <a:cs typeface="Kalpurush"/>
              </a:rPr>
              <a:t>Second level</a:t>
            </a:r>
          </a:p>
          <a:p>
            <a:pPr lvl="2"/>
            <a:r>
              <a:rPr lang="en-US">
                <a:latin typeface="Kalpurush"/>
                <a:ea typeface="Kalpurush"/>
                <a:cs typeface="Kalpurush"/>
              </a:rPr>
              <a:t>Third level</a:t>
            </a:r>
          </a:p>
          <a:p>
            <a:pPr lvl="3"/>
            <a:r>
              <a:rPr lang="en-US">
                <a:latin typeface="Kalpurush"/>
                <a:ea typeface="Kalpurush"/>
                <a:cs typeface="Kalpurush"/>
              </a:rPr>
              <a:t>Fourth level</a:t>
            </a:r>
          </a:p>
          <a:p>
            <a:pPr lvl="4"/>
            <a:r>
              <a:rPr lang="en-US">
                <a:latin typeface="Kalpurush"/>
                <a:ea typeface="Kalpurush"/>
                <a:cs typeface="Kalpurush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1pPr>
          </a:lstStyle>
          <a:p>
            <a:fld id="{5BCAD085-E8A6-8845-BD4E-CB4CCA059FC4}" type="datetimeFigureOut">
              <a:rPr lang="en-US" smtClean="0">
                <a:latin typeface="Kalpurush"/>
                <a:ea typeface="Kalpurush"/>
                <a:cs typeface="Kalpurush"/>
              </a:rPr>
              <a:t>9/29/2026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1pPr>
          </a:lstStyle>
          <a:p>
            <a:endParaRPr lang="en-US">
              <a:latin typeface="Kalpurush"/>
              <a:ea typeface="Kalpurush"/>
              <a:cs typeface="Kalpurush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alpurush"/>
                <a:ea typeface="Kalpurush"/>
                <a:cs typeface="Kalpurush"/>
              </a:defRPr>
            </a:lvl1pPr>
          </a:lstStyle>
          <a:p>
            <a:fld id="{C1FF6DA9-008F-8B48-92A6-B652298478BF}" type="slidenum">
              <a:rPr lang="en-US" smtClean="0">
                <a:latin typeface="Kalpurush"/>
                <a:ea typeface="Kalpurush"/>
                <a:cs typeface="Kalpurush"/>
              </a:rPr>
              <a:t>‹#›</a:t>
            </a:fld>
            <a:endParaRPr lang="en-US">
              <a:latin typeface="Kalpurush"/>
              <a:ea typeface="Kalpurush"/>
              <a:cs typeface="Kalpurush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Kalpurush"/>
          <a:ea typeface="Kalpurush"/>
          <a:cs typeface="Kalpurus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Kalpurush"/>
        <a:buChar char="•"/>
        <a:defRPr sz="3200" kern="1200">
          <a:solidFill>
            <a:schemeClr val="tx1"/>
          </a:solidFill>
          <a:latin typeface="Kalpurush"/>
          <a:ea typeface="Kalpurush"/>
          <a:cs typeface="Kalpurush"/>
        </a:defRPr>
      </a:lvl1pPr>
      <a:lvl2pPr marL="742950" indent="-285750" algn="l" defTabSz="457200" rtl="0" eaLnBrk="1" latinLnBrk="0" hangingPunct="1">
        <a:spcBef>
          <a:spcPct val="20000"/>
        </a:spcBef>
        <a:buFont typeface="Kalpurush"/>
        <a:buChar char="–"/>
        <a:defRPr sz="2800" kern="1200">
          <a:solidFill>
            <a:schemeClr val="tx1"/>
          </a:solidFill>
          <a:latin typeface="Kalpurush"/>
          <a:ea typeface="Kalpurush"/>
          <a:cs typeface="Kalpurush"/>
        </a:defRPr>
      </a:lvl2pPr>
      <a:lvl3pPr marL="1143000" indent="-228600" algn="l" defTabSz="457200" rtl="0" eaLnBrk="1" latinLnBrk="0" hangingPunct="1">
        <a:spcBef>
          <a:spcPct val="20000"/>
        </a:spcBef>
        <a:buFont typeface="Kalpurush"/>
        <a:buChar char="•"/>
        <a:defRPr sz="2400" kern="1200">
          <a:solidFill>
            <a:schemeClr val="tx1"/>
          </a:solidFill>
          <a:latin typeface="Kalpurush"/>
          <a:ea typeface="Kalpurush"/>
          <a:cs typeface="Kalpurush"/>
        </a:defRPr>
      </a:lvl3pPr>
      <a:lvl4pPr marL="1600200" indent="-228600" algn="l" defTabSz="457200" rtl="0" eaLnBrk="1" latinLnBrk="0" hangingPunct="1">
        <a:spcBef>
          <a:spcPct val="20000"/>
        </a:spcBef>
        <a:buFont typeface="Kalpurush"/>
        <a:buChar char="–"/>
        <a:defRPr sz="2000" kern="1200">
          <a:solidFill>
            <a:schemeClr val="tx1"/>
          </a:solidFill>
          <a:latin typeface="Kalpurush"/>
          <a:ea typeface="Kalpurush"/>
          <a:cs typeface="Kalpurush"/>
        </a:defRPr>
      </a:lvl4pPr>
      <a:lvl5pPr marL="2057400" indent="-228600" algn="l" defTabSz="457200" rtl="0" eaLnBrk="1" latinLnBrk="0" hangingPunct="1">
        <a:spcBef>
          <a:spcPct val="20000"/>
        </a:spcBef>
        <a:buFont typeface="Kalpurush"/>
        <a:buChar char="»"/>
        <a:defRPr sz="2000" kern="1200">
          <a:solidFill>
            <a:schemeClr val="tx1"/>
          </a:solidFill>
          <a:latin typeface="Kalpurush"/>
          <a:ea typeface="Kalpurush"/>
          <a:cs typeface="Kalpurush"/>
        </a:defRPr>
      </a:lvl5pPr>
      <a:lvl6pPr marL="2514600" indent="-228600" algn="l" defTabSz="457200" rtl="0" eaLnBrk="1" latinLnBrk="0" hangingPunct="1">
        <a:spcBef>
          <a:spcPct val="20000"/>
        </a:spcBef>
        <a:buFont typeface="Kalpurush"/>
        <a:buChar char="•"/>
        <a:defRPr sz="2000" kern="1200">
          <a:solidFill>
            <a:schemeClr val="tx1"/>
          </a:solidFill>
          <a:latin typeface="Kalpurush"/>
          <a:ea typeface="Kalpurush"/>
          <a:cs typeface="Kalpurush"/>
        </a:defRPr>
      </a:lvl6pPr>
      <a:lvl7pPr marL="2971800" indent="-228600" algn="l" defTabSz="457200" rtl="0" eaLnBrk="1" latinLnBrk="0" hangingPunct="1">
        <a:spcBef>
          <a:spcPct val="20000"/>
        </a:spcBef>
        <a:buFont typeface="Kalpurush"/>
        <a:buChar char="•"/>
        <a:defRPr sz="2000" kern="1200">
          <a:solidFill>
            <a:schemeClr val="tx1"/>
          </a:solidFill>
          <a:latin typeface="Kalpurush"/>
          <a:ea typeface="Kalpurush"/>
          <a:cs typeface="Kalpurush"/>
        </a:defRPr>
      </a:lvl7pPr>
      <a:lvl8pPr marL="3429000" indent="-228600" algn="l" defTabSz="457200" rtl="0" eaLnBrk="1" latinLnBrk="0" hangingPunct="1">
        <a:spcBef>
          <a:spcPct val="20000"/>
        </a:spcBef>
        <a:buFont typeface="Kalpurush"/>
        <a:buChar char="•"/>
        <a:defRPr sz="2000" kern="1200">
          <a:solidFill>
            <a:schemeClr val="tx1"/>
          </a:solidFill>
          <a:latin typeface="Kalpurush"/>
          <a:ea typeface="Kalpurush"/>
          <a:cs typeface="Kalpurush"/>
        </a:defRPr>
      </a:lvl8pPr>
      <a:lvl9pPr marL="3886200" indent="-228600" algn="l" defTabSz="457200" rtl="0" eaLnBrk="1" latinLnBrk="0" hangingPunct="1">
        <a:spcBef>
          <a:spcPct val="20000"/>
        </a:spcBef>
        <a:buFont typeface="Kalpurush"/>
        <a:buChar char="•"/>
        <a:defRPr sz="2000" kern="1200">
          <a:solidFill>
            <a:schemeClr val="tx1"/>
          </a:solidFill>
          <a:latin typeface="Kalpurush"/>
          <a:ea typeface="Kalpurush"/>
          <a:cs typeface="Kalpurush"/>
        </a:defRPr>
      </a:lvl9pPr>
    </p:bodyStyle>
    <p:otherStyle>
      <a:defPPr>
        <a:defRPr lang="en-US">
          <a:latin typeface="Kalpurush"/>
          <a:ea typeface="Kalpurush"/>
          <a:cs typeface="Kalpurush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Kalpurush"/>
          <a:ea typeface="Kalpurush"/>
          <a:cs typeface="Kalpurush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Kalpurush"/>
          <a:ea typeface="Kalpurush"/>
          <a:cs typeface="Kalpurush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Kalpurush"/>
          <a:ea typeface="Kalpurush"/>
          <a:cs typeface="Kalpurush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Kalpurush"/>
          <a:ea typeface="Kalpurush"/>
          <a:cs typeface="Kalpurush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Kalpurush"/>
          <a:ea typeface="Kalpurush"/>
          <a:cs typeface="Kalpurush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Kalpurush"/>
          <a:ea typeface="Kalpurush"/>
          <a:cs typeface="Kalpurush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Kalpurush"/>
          <a:ea typeface="Kalpurush"/>
          <a:cs typeface="Kalpurush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Kalpurush"/>
          <a:ea typeface="Kalpurush"/>
          <a:cs typeface="Kalpurush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Kalpurush"/>
          <a:ea typeface="Kalpurush"/>
          <a:cs typeface="Kalpurush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109728"/>
          </a:xfrm>
          <a:prstGeom prst="rect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5989320"/>
            <a:ext cx="11247120" cy="109728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19411" y="1417320"/>
            <a:ext cx="4814138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ফুড ইঞ্জিনিয়ারিং ফান্ডামেন্টালস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0370" y="2788920"/>
            <a:ext cx="23807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ডিজিটাল কনটেন্ট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3158" y="3703320"/>
            <a:ext cx="4955203" cy="8463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বিষয়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কোড</a:t>
            </a:r>
            <a:r>
              <a:rPr dirty="0">
                <a:latin typeface="Kalpurush"/>
                <a:ea typeface="Kalpurush"/>
                <a:cs typeface="Kalpurush"/>
              </a:rPr>
              <a:t>: ২৬৯১১  |  ১ম </a:t>
            </a:r>
            <a:r>
              <a:rPr dirty="0" err="1">
                <a:latin typeface="Kalpurush"/>
                <a:ea typeface="Kalpurush"/>
                <a:cs typeface="Kalpurush"/>
              </a:rPr>
              <a:t>সেমিস্টার</a:t>
            </a:r>
            <a:r>
              <a:rPr dirty="0">
                <a:latin typeface="Kalpurush"/>
                <a:ea typeface="Kalpurush"/>
                <a:cs typeface="Kalpurush"/>
              </a:rPr>
              <a:t>  |  </a:t>
            </a:r>
            <a:r>
              <a:rPr dirty="0" err="1">
                <a:latin typeface="Kalpurush"/>
                <a:ea typeface="Kalpurush"/>
                <a:cs typeface="Kalpurush"/>
              </a:rPr>
              <a:t>ফুড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টেকনোলজি</a:t>
            </a:r>
            <a:endParaRPr dirty="0">
              <a:latin typeface="Kalpurush"/>
              <a:ea typeface="Kalpurush"/>
              <a:cs typeface="Kalpurush"/>
            </a:endParaRPr>
          </a:p>
          <a:p>
            <a:pPr algn="ctr">
              <a:defRPr sz="1600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চাঁপাইনবাবগঞ্জ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সরকারি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পলিটেকনিক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ইনস্টিটিউট</a:t>
            </a:r>
            <a:endParaRPr dirty="0">
              <a:latin typeface="Kalpurush"/>
              <a:ea typeface="Kalpurush"/>
              <a:cs typeface="Kalpurush"/>
            </a:endParaRPr>
          </a:p>
          <a:p>
            <a:pPr algn="ctr">
              <a:defRPr sz="1500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কোর্স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ইনস্ট্রাক্টর</a:t>
            </a:r>
            <a:r>
              <a:rPr dirty="0">
                <a:latin typeface="Kalpurush"/>
                <a:ea typeface="Kalpurush"/>
                <a:cs typeface="Kalpurush"/>
              </a:rPr>
              <a:t>: </a:t>
            </a:r>
            <a:r>
              <a:rPr dirty="0" err="1">
                <a:latin typeface="Kalpurush"/>
                <a:ea typeface="Kalpurush"/>
                <a:cs typeface="Kalpurush"/>
              </a:rPr>
              <a:t>নাসিম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আল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মাসুদ</a:t>
            </a:r>
            <a:r>
              <a:rPr lang="en-US" dirty="0">
                <a:latin typeface="Kalpurush"/>
                <a:ea typeface="Kalpurush"/>
                <a:cs typeface="Kalpurush"/>
              </a:rPr>
              <a:t> (</a:t>
            </a:r>
            <a:r>
              <a:rPr lang="en-US" dirty="0" err="1">
                <a:latin typeface="Kalpurush"/>
                <a:ea typeface="Kalpurush"/>
                <a:cs typeface="Kalpurush"/>
              </a:rPr>
              <a:t>টেক</a:t>
            </a:r>
            <a:r>
              <a:rPr lang="en-US" dirty="0">
                <a:latin typeface="Kalpurush"/>
                <a:ea typeface="Kalpurush"/>
                <a:cs typeface="Kalpurush"/>
              </a:rPr>
              <a:t>/</a:t>
            </a:r>
            <a:r>
              <a:rPr lang="en-US" dirty="0" err="1">
                <a:latin typeface="Kalpurush"/>
                <a:ea typeface="Kalpurush"/>
                <a:cs typeface="Kalpurush"/>
              </a:rPr>
              <a:t>ফুড</a:t>
            </a:r>
            <a:r>
              <a:rPr lang="en-US" dirty="0">
                <a:latin typeface="Kalpurush"/>
                <a:ea typeface="Kalpurush"/>
                <a:cs typeface="Kalpurush"/>
              </a:rPr>
              <a:t>)</a:t>
            </a:r>
            <a:endParaRPr dirty="0">
              <a:latin typeface="Kalpurush"/>
              <a:ea typeface="Kalpurush"/>
              <a:cs typeface="Kalpuru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560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শিখনফল</a:t>
            </a:r>
            <a:endParaRPr dirty="0">
              <a:latin typeface="Kalpurush"/>
              <a:ea typeface="Kalpurush"/>
              <a:cs typeface="Kalpurush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220765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কোর্সের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তাত্ত্বিক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ব্যবহারিক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সক্ষমতা</a:t>
            </a:r>
            <a:endParaRPr dirty="0"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ফুড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ফুড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ইঞ্জিনিয়ারিং-এর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মৌলিক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ধারণা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ব্যাখ্যা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করতে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পারবে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ফুড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অ্যাপ্লায়েন্স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প্ল্যান্ট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ইকুইপমেন্ট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মাপযন্ত্র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শনাক্ত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শ্রেণিবিন্যাস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করতে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পারবে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প্রসেস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সিম্বল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বিভিন্ন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যন্ত্রপাতির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স্কিম্যাটিক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ডায়াগ্রাম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বুঝতে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আঁকতে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পারবে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ইউনিট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অপারেশন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ইউনিট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প্রসেস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তাপ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তাপ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স্থানান্তর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ব্যাখ্যা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করতে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পারবে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একক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রূপান্তর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স্পেসিফিক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গ্র্যাভিটি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ভর-শক্তি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ব্যালেন্স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এবং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দ্রবণ-মিশ্রণের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হিসাব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করতে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পারবে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338105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কোর্সের ১৬ সপ্তাহের রূপরেখা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00000"/>
            <a:ext cx="3429000" cy="12300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070000"/>
            <a:ext cx="7360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সপ্তাহ</a:t>
            </a:r>
            <a:r>
              <a:rPr dirty="0">
                <a:latin typeface="Kalpurush"/>
                <a:ea typeface="Kalpurush"/>
                <a:cs typeface="Kalpurush"/>
              </a:rPr>
              <a:t> 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00000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খাদ্য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ফুড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ইঞ্জিনিয়ারিং-এর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মৌলিক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ধারণা</a:t>
            </a:r>
            <a:endParaRPr dirty="0">
              <a:latin typeface="Kalpurush"/>
              <a:ea typeface="Kalpurush"/>
              <a:cs typeface="Kalpurush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900000"/>
            <a:ext cx="3429000" cy="12300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53712" y="1070000"/>
            <a:ext cx="9685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সপ্তাহ ২–৩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500000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ফুড অ্যাপ্লায়েন্স ও প্ল্যান্ট ইকুইপমেন্ট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900000"/>
            <a:ext cx="3429000" cy="12300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8472" y="1070000"/>
            <a:ext cx="9605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সপ্তাহ ৪–৫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1500000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মেজারিং ইন্সট্রুমেন্টস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00000"/>
            <a:ext cx="3429000" cy="12300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" y="2470000"/>
            <a:ext cx="7665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সপ্তাহ 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900000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ফুড প্রসেস ইন্ডাস্ট্রির প্রসেস সিম্বল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300000"/>
            <a:ext cx="3429000" cy="12300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3712" y="2470000"/>
            <a:ext cx="9749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সপ্তাহ ৭–৮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900000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স্কিম্যাটিক রিপ্রেজেন্টেশন + মিড-টার্ম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2300000"/>
            <a:ext cx="3429000" cy="12300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48472" y="2470000"/>
            <a:ext cx="7585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সপ্তাহ 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900000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ইউনিট অপারেশন ও ইউনিট প্রসেস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700000"/>
            <a:ext cx="3429000" cy="12300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8952" y="3870000"/>
            <a:ext cx="8515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সপ্তাহ ১০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300000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ইউনিট ও ডাইমেনশন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700000"/>
            <a:ext cx="3429000" cy="12300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53712" y="3870000"/>
            <a:ext cx="11240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সপ্তাহ ১১–১২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300000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তাপ ও তাপ স্থানান্তর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700000"/>
            <a:ext cx="3429000" cy="12300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48472" y="3870000"/>
            <a:ext cx="11448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সপ্তাহ ১৩–১৪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4300000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কনভার্সন ফ্যাক্টর, ভর ও শক্তি ব্যালেন্স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100000"/>
            <a:ext cx="3429000" cy="12300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8952" y="5270000"/>
            <a:ext cx="11624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সপ্তাহ ১৫–১৬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700000"/>
            <a:ext cx="3099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সলিউশন ও মিশ্রণ + সেমিস্টার রিভিউ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73712" y="6528816"/>
            <a:ext cx="2391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59586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অধ্যায় ১: খাদ্য ও ফুড ইঞ্জিনিয়ারিং-এর মৌলিক ধারণা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342900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298448"/>
            <a:ext cx="9204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খাদ্য কী?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5564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খাদ্যের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সংজ্ঞা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গঠন</a:t>
            </a:r>
            <a:r>
              <a:rPr dirty="0">
                <a:latin typeface="Kalpurush"/>
                <a:ea typeface="Kalpurush"/>
                <a:cs typeface="Kalpurush"/>
              </a:rPr>
              <a:t>/</a:t>
            </a:r>
            <a:r>
              <a:rPr dirty="0" err="1">
                <a:latin typeface="Kalpurush"/>
                <a:ea typeface="Kalpurush"/>
                <a:cs typeface="Kalpurush"/>
              </a:rPr>
              <a:t>উপাদান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এবং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খাদ্যের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শ্রেণিবিন্যাস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সম্পর্কে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ধারণা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42900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53712" y="1298448"/>
            <a:ext cx="185178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ফুড প্রসেসিং ইন্ডাস্ট্রি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75564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খাদ্য প্রক্রিয়াজাতকরণ শিল্পের ধারণা এবং বাংলাদেশে গুরুত্বপূর্ণ খাদ্য শিল্পের উদাহরণ।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188720"/>
            <a:ext cx="342900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8471" y="1298448"/>
            <a:ext cx="14686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ফুড ইঞ্জিনিয়ারিং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755648"/>
            <a:ext cx="309981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ফুড ইঞ্জিনিয়ারিং ও ফুড টেকনোলজির ধারণা, খাদ্য প্রকৌশলীর দায়িত্ব ও কাজের ক্ষেত্র।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1000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62352" y="4087368"/>
            <a:ext cx="47320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খাদ্য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30398" y="412165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876702" y="381000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54106" y="4087368"/>
            <a:ext cx="127150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প্রক্রিয়াজাতকরণ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21300" y="412165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67604" y="381000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21526" y="4087368"/>
            <a:ext cx="71846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যন্ত্রপাতি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12203" y="412165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58507" y="381000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94608" y="4087368"/>
            <a:ext cx="95410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মান নিয়ন্ত্রণ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03105" y="412165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449409" y="381000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55053" y="4087368"/>
            <a:ext cx="101502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নিরাপদ পণ্য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73712" y="6528816"/>
            <a:ext cx="2391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51267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অধ্যায় ২: ফুড অ্যাপ্লায়েন্স ও প্ল্যান্ট ইকুইপমেন্ট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ফুড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ইন্ডাস্ট্রিতে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ব্যবহৃত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গুরুত্বপূর্ণ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অ্যাপ্লায়েন্স</a:t>
            </a:r>
            <a:r>
              <a:rPr dirty="0">
                <a:latin typeface="Kalpurush"/>
                <a:ea typeface="Kalpurush"/>
                <a:cs typeface="Kalpurush"/>
              </a:rPr>
              <a:t>: </a:t>
            </a:r>
            <a:r>
              <a:rPr dirty="0" err="1">
                <a:latin typeface="Kalpurush"/>
                <a:ea typeface="Kalpurush"/>
                <a:cs typeface="Kalpurush"/>
              </a:rPr>
              <a:t>ব্লেন্ডার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গ্রাইন্ডার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ওভেন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জুসার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কুকার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রেফ্রিজারেটর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ফ্রিজার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ওয়েট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স্কেল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ওভেন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ওয়েটিং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স্কেলের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শ্রেণিবিন্যাস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এবং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ব্যবহার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পাম্প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মিক্সার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মেশিন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ড্রায়ার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ইভাপোরেটর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হিট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এক্সচেঞ্জারের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শ্রেণিবিন্যাস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ব্যবহার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সেন্ট্রিফিউগাল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পাম্পের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কার্যাবলি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খাদ্য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প্রক্রিয়ায়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প্রয়োগ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023360"/>
            <a:ext cx="2468880" cy="475488"/>
          </a:xfrm>
          <a:prstGeom prst="roundRect">
            <a:avLst/>
          </a:prstGeom>
          <a:solidFill>
            <a:srgbClr val="F5F8F8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9567" y="4087368"/>
            <a:ext cx="71846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Blender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023360"/>
            <a:ext cx="2468880" cy="475488"/>
          </a:xfrm>
          <a:prstGeom prst="roundRect">
            <a:avLst/>
          </a:prstGeom>
          <a:solidFill>
            <a:srgbClr val="F5F8F8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06611" y="4087368"/>
            <a:ext cx="71365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Grinder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023360"/>
            <a:ext cx="2468880" cy="475488"/>
          </a:xfrm>
          <a:prstGeom prst="roundRect">
            <a:avLst/>
          </a:prstGeom>
          <a:solidFill>
            <a:srgbClr val="F5F8F8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31019" y="4087368"/>
            <a:ext cx="53412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Oven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4023360"/>
            <a:ext cx="2468880" cy="475488"/>
          </a:xfrm>
          <a:prstGeom prst="roundRect">
            <a:avLst/>
          </a:prstGeom>
          <a:solidFill>
            <a:srgbClr val="F5F8F8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40813" y="4087368"/>
            <a:ext cx="58381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Juicer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681728"/>
            <a:ext cx="2468880" cy="475488"/>
          </a:xfrm>
          <a:prstGeom prst="roundRect">
            <a:avLst/>
          </a:prstGeom>
          <a:solidFill>
            <a:srgbClr val="F5F8F8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37694" y="4745736"/>
            <a:ext cx="58221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Pump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4681728"/>
            <a:ext cx="2468880" cy="475488"/>
          </a:xfrm>
          <a:prstGeom prst="roundRect">
            <a:avLst/>
          </a:prstGeom>
          <a:solidFill>
            <a:srgbClr val="F5F8F8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76342" y="4745736"/>
            <a:ext cx="57419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Dryer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681728"/>
            <a:ext cx="2468880" cy="475488"/>
          </a:xfrm>
          <a:prstGeom prst="roundRect">
            <a:avLst/>
          </a:prstGeom>
          <a:solidFill>
            <a:srgbClr val="F5F8F8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4232" y="4745736"/>
            <a:ext cx="94769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Evaporator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4681728"/>
            <a:ext cx="2468880" cy="475488"/>
          </a:xfrm>
          <a:prstGeom prst="roundRect">
            <a:avLst/>
          </a:prstGeom>
          <a:solidFill>
            <a:srgbClr val="F5F8F8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88153" y="4745736"/>
            <a:ext cx="128913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Heat Exchanger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5337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9909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73712" y="6107537"/>
            <a:ext cx="2391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 dirty="0">
                <a:latin typeface="Kalpurush"/>
                <a:ea typeface="Kalpurush"/>
                <a:cs typeface="Kalpurush"/>
              </a:rPr>
              <a:t>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১.১ খাদ্যের সংজ্ঞা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 bIns="73152"/>
          <a:lstStyle/>
          <a:p>
            <a:pPr>
              <a:spcAft>
                <a:spcPts val="1000"/>
              </a:spcAft>
              <a:defRPr sz="20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কী এবং কেন প্রয়োজন?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হলো এমন ভক্ষণযোগ্য পদার্থ, যা দেহে পুষ্টি সরবরাহ করে এবং জীবনধারণে সহায়তা করে।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দেহের বৃদ্ধি, ক্ষয়পূরণ, শক্তি উৎপাদন ও রোগ প্রতিরোধে ভূমিকা রাখে।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সুষম খাদ্যে দেহের প্রয়োজন অনুযায়ী প্রয়োজনীয় পুষ্টি উপাদান সঠিক অনুপাতে থাকে।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উদাহরণ: ভাত, মাছ, ডিম, দুধ, ডাল, শাকসবজি ও ফলমূল।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66928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>
              <a:defRPr sz="14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মনে রাখবে: খাদ্য শুধু ক্ষুধা নিবারণ করে না—দেহ গঠন, শক্তি ও সুস্থতা বজায় রাখে।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5</a:t>
            </a:r>
          </a:p>
        </p:txBody>
      </p:sp>
      <p:pic>
        <p:nvPicPr>
          <p:cNvPr id="7" name="Picture – food_functions" descr="খাদ্যের কাজ: দেহ গঠন, শক্তি ও রোগ প্রতিরো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000" y="1700000"/>
            <a:ext cx="2800000" cy="22666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১.২ খাদ্যের উপাদান (Composition of Foods)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 bIns="73152"/>
          <a:lstStyle/>
          <a:p>
            <a:pPr>
              <a:spcAft>
                <a:spcPts val="1000"/>
              </a:spcAft>
              <a:defRPr sz="20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খাদ্যের প্রধান ছয়টি উপাদান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প্রোটিন: দেহ গঠন, বৃদ্ধি ও ক্ষয়পূরণে সহায়তা করে।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কার্বোহাইড্রেট: দেহের প্রধান শক্তির উৎস।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ফ্যাট: শক্তি সরবরাহ ও শক্তি সঞ্চয়ে ভূমিকা রাখে।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ভিটামিন: দেহের স্বাভাবিক কার্যক্রম ও রোগ প্রতিরোধে সহায়তা করে।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মিনারেল: হাড়-দাঁত গঠন, রক্ত ও দেহের বিভিন্ন কাজে প্রয়োজন।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পানি: পুষ্টি পরিবহন, তাপমাত্রা নিয়ন্ত্রণ ও দেহের কার্যক্রমে সহায়তা করে।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66928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>
              <a:defRPr sz="14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স্মরণসূত্র: প্রোটিন • কার্বোহাইড্রেট • ফ্যাট • ভিটামিন • মিনারেল • পানি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6</a:t>
            </a:r>
          </a:p>
        </p:txBody>
      </p:sp>
      <p:pic>
        <p:nvPicPr>
          <p:cNvPr id="7" name="Picture – food_composition" descr="খাদ্যের ছয়টি উপাদা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000" y="1700000"/>
            <a:ext cx="3000000" cy="28421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১.৩ খাদ্যের শ্রেণিবিভাগ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 bIns="73152"/>
          <a:lstStyle/>
          <a:p>
            <a:pPr>
              <a:spcAft>
                <a:spcPts val="1000"/>
              </a:spcAft>
              <a:defRPr sz="20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কাজ, উৎস ও প্রকৃতির ভিত্তিতে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কাজের ভিত্তিতে: দেহ গঠনকারী, শক্তি উৎপাদনকারী এবং রোগ প্রতিরোধকারী খাদ্য।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উৎসের ভিত্তিতে: উদ্ভিজ্জ খাদ্য—চাল, ডাল, শাকসবজি, ফল; প্রাণিজ খাদ্য—দুধ, ডিম, মাছ, মাংস।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প্রকৃতির ভিত্তিতে: পেরিশেবল—দুধ, মাছ, মাংস; সেমি-পেরিশেবল—আলু, পেঁয়াজ; নন-পেরিশেবল—চাল, ডাল, চিনি।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পচনশীল খাদ্য সংরক্ষণে তাপমাত্রা, আর্দ্রতা, পরিচ্ছন্নতা ও প্যাকেজিং গুরুত্বপূর্ণ।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66928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>
              <a:defRPr sz="14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প্রয়োগ: খাদ্যের শ্রেণি জানা থাকলে উপযুক্ত সংরক্ষণ পদ্ধতি নির্বাচন সহজ হয়।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১.৪ ফুড ইঞ্জিনিয়ারিং ও ফুড টেকনোলজি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 bIns="73152"/>
          <a:lstStyle/>
          <a:p>
            <a:pPr>
              <a:spcAft>
                <a:spcPts val="1000"/>
              </a:spcAft>
              <a:defRPr sz="20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দুটি সম্পর্কিত কিন্তু ভিন্ন ক্ষেত্র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টেকনোলজি: খাদ্য উৎপাদন, প্রক্রিয়াজাতকরণ, সংরক্ষণ, প্যাকেজিং ও গুণমান নিয়ন্ত্রণের বিজ্ঞান ও প্রযুক্তি।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ইঞ্জিনিয়ারিং: খাদ্য প্রক্রিয়ায় যন্ত্রপাতি, তাপ ও ভর স্থানান্তর, প্রবাহ, প্রক্রিয়া নকশা এবং উৎপাদন ব্যবস্থাপনার প্রকৌশল।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টেকনোলজি খাদ্যের গুণমান ও নিরাপত্তায় গুরুত্ব দেয়; ফুড ইঞ্জিনিয়ারিং প্রক্রিয়া ও যন্ত্রের কার্যকারিতায় গুরুত্ব দেয়।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দুটি ক্ষেত্র একসঙ্গে নিরাপদ, মানসম্মত ও সংরক্ষণযোগ্য খাদ্য উৎপাদনে কাজ করে।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66928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>
              <a:defRPr sz="14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সহজভাবে: Food Technology = খাদ্যের বিজ্ঞান ও প্রযুক্তি; Food Engineering = খাদ্য প্রক্রিয়ার প্রকৌশল।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8</a:t>
            </a:r>
          </a:p>
        </p:txBody>
      </p:sp>
      <p:pic>
        <p:nvPicPr>
          <p:cNvPr id="7" name="Picture – fe_vs_ft" descr="ফুড টেকনোলজি ও ফুড ইঞ্জিনিয়ারি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000" y="1900000"/>
            <a:ext cx="3000000" cy="22857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১.৫ ফুড ইঞ্জিনিয়ারের দায়িত্ব ও কর্মক্ষেত্র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 bIns="73152"/>
          <a:lstStyle/>
          <a:p>
            <a:pPr>
              <a:spcAft>
                <a:spcPts val="1000"/>
              </a:spcAft>
              <a:defRPr sz="20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শিল্পে প্রকৌশলীর ভূমিকা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উৎপাদন প্রক্রিয়া ও যন্ত্রপাতি নির্বাচন, পরিচালনা এবং রক্ষণাবেক্ষণ।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তাপমাত্রা, চাপ, প্রবাহ, সময় ও অন্যান্য প্রক্রিয়া-পরামিতি নিয়ন্ত্রণ।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খাদ্যের নিরাপত্তা, স্বাস্থ্যবিধি, গুণমান ও উৎপাদন দক্ষতা নিশ্চিত করা।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অপচয়, শক্তি ও পানির ব্যবহার কমিয়ে উৎপাদন খরচ নিয়ন্ত্রণে সহায়তা করা।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কর্মক্ষেত্র: খাদ্য কারখানা, দুগ্ধ ও পানীয় শিল্প, বেকারি, হিমায়িত খাদ্য, প্যাকেজিং, মান নিয়ন্ত্রণ ও গবেষণা।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66928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>
              <a:defRPr sz="14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মূল লক্ষ্য: নিরাপদ খাদ্য, স্থিতিশীল গুণমান, দক্ষ উৎপাদন ও কম অপচয়।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১.৬ ফুড প্রসেসিং ইন্ডাস্ট্রি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 bIns="73152"/>
          <a:lstStyle/>
          <a:p>
            <a:pPr>
              <a:spcAft>
                <a:spcPts val="1000"/>
              </a:spcAft>
              <a:defRPr sz="20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কাঁচামাল থেকে নিরাপদ খাদ্যপণ্য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প্রসেসিং ইন্ডাস্ট্রি হলো কাঁচা খাদ্যকে নিরাপদ, ব্যবহারযোগ্য, সংরক্ষণযোগ্য ও বাজারজাতযোগ্য পণ্যে রূপান্তরের শিল্প।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সাধারণ ধাপ: কাঁচামাল গ্রহণ → বাছাই/পরিষ্কার → প্রক্রিয়াজাতকরণ → প্যাকেজিং → সংরক্ষণ → বিতরণ।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উদাহরণ: চালকল, আটা-ময়দা, দুগ্ধজাত পণ্য, বেকারি, ফলের জুস, মাছ-মাংস প্রক্রিয়াজাতকরণ ও ভোজ্যতেল শিল্প।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প্রতিটি ধাপে পরিচ্ছন্নতা, মান নিয়ন্ত্রণ, সঠিক তাপমাত্রা ও ট্রেসেবিলিটি গুরুত্বপূর্ণ।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66928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>
              <a:defRPr sz="14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প্রক্রিয়ার উদ্দেশ্য: নিরাপত্তা বৃদ্ধি, সংরক্ষণকাল বাড়ানো, সুবিধাজনক ব্যবহার ও অপচয় কমানো।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10</a:t>
            </a:r>
          </a:p>
        </p:txBody>
      </p:sp>
      <p:pic>
        <p:nvPicPr>
          <p:cNvPr id="7" name="Picture – process_line" descr="কাঁচামাল থেকে নিরাপদ পণ্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1800000"/>
            <a:ext cx="3100000" cy="124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২.১ ফুড অ্যাপ্লায়েন্স ও প্ল্যান্ট ইকুইপমেন্ট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 bIns="73152"/>
          <a:lstStyle/>
          <a:p>
            <a:pPr>
              <a:spcAft>
                <a:spcPts val="1000"/>
              </a:spcAft>
              <a:defRPr sz="20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গৃহস্থালি যন্ত্র ও শিল্পকারখানার সরঞ্জাম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appliances: ব্লেন্ডার, গ্রাইন্ডার, জুসার, কুকার, রেফ্রিজারেটর, ফ্রিজার ও ওয়েট স্কেল।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Plant equipment: পাম্প, মিক্সার, কনভেয়ার, ড্রায়ার, ইভাপোরেটর, হিট এক্সচেঞ্জার, ফিল্টার ও সেন্ট্রিফিউজ।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নির্বাচনের বিষয়: উৎপাদন ক্ষমতা, খাদ্যের প্রকৃতি, উপাদানের সঙ্গে সংস্পর্শের নিরাপত্তা, পরিষ্কার করার সুবিধা ও শক্তি ব্যবহার।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যন্ত্র ব্যবহারের আগে অপারেটিং নির্দেশনা, গার্ড, বৈদ্যুতিক নিরাপত্তা ও স্যানিটেশন যাচাই করতে হবে।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66928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>
              <a:defRPr sz="14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যন্ত্র নির্বাচন হবে খাদ্যের বৈশিষ্ট্য, উৎপাদন চাহিদা ও স্বাস্থ্যবিধির ভিত্তিতে।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২.২ গুরুত্বপূর্ণ যন্ত্রপাতি: কাজ ও ব্যবহার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 bIns="73152"/>
          <a:lstStyle/>
          <a:p>
            <a:pPr>
              <a:spcAft>
                <a:spcPts val="1000"/>
              </a:spcAft>
              <a:defRPr sz="20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প্রক্রিয়ায় সাধারণ সরঞ্জাম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ব্লেন্ডার/মিক্সার: উপাদান মেশানো ও সমসত্ত্ব মিশ্রণ তৈরি।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গ্রাইন্ডার: কাঁচামালের আকার ছোট করা বা গুঁড়া করা।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ওভেন: বেকিং, রোস্টিং ও নিয়ন্ত্রিত তাপ প্রয়োগ।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পাম্প: তরল খাদ্য এক স্থান থেকে অন্য স্থানে স্থানান্তর।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ড্রায়ার: খাদ্য থেকে আর্দ্রতা অপসারণ করে সংরক্ষণকাল বাড়ানো।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ইভাপোরেটর: তরল থেকে বাষ্পীভবনের মাধ্যমে পানি কমিয়ে ঘন করা।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হিট এক্সচেঞ্জার: খাদ্যকে উত্তপ্ত বা ঠান্ডা করতে তাপ স্থানান্তর।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66928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>
              <a:defRPr sz="14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উদাহরণ: দুধ পাস্তুরাইজেশনে হিট এক্সচেঞ্জার; ফলের রস ঘন করতে ইভাপোরেটর ব্যবহার করা যায়।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২.৩ পাম্প ও মিক্সিং মেশিনের শ্রেণিবিভাগ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 bIns="73152"/>
          <a:lstStyle/>
          <a:p>
            <a:pPr>
              <a:spcAft>
                <a:spcPts val="1000"/>
              </a:spcAft>
              <a:defRPr sz="20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প্রক্রিয়ার ধরন অনুযায়ী যন্ত্র নির্বাচন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পাম্পের প্রধান শ্রেণি: রোটোডাইনামিক (যেমন centrifugal pump) এবং positive displacement pump।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Centrifugal pump: ধারাবাহিক প্রবাহে তুলনামূলক কম সান্দ্র তরল পরিবহনে বহুল ব্যবহৃত।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Positive displacement pump: নির্দিষ্ট পরিমাণ তরল সরাতে পারে; বেশি সান্দ্র তরলে উপযোগী হতে পারে।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মিক্সিং মেশিন: তরল-তরল, কঠিন-তরল বা পেস্টজাত উপাদান মেশানোর জন্য ব্যবহৃত হয়।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সঠিক যন্ত্র নির্বাচন নির্ভর করে প্রবাহহার, সান্দ্রতা, চাপ, পরিচ্ছন্নতা ও খাদ্যের সংবেদনশীলতার ওপর।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66928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>
              <a:defRPr sz="14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নিরাপত্তা: পাম্প চালুর আগে সংযোগ, ভালভ, লিকেজ ও পরিষ্কার অবস্থা পরীক্ষা করতে হবে।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দ্রুত পুনরালোচনা ও শ্রেণিকক্ষ আলোচনা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109728" bIns="73152"/>
          <a:lstStyle/>
          <a:p>
            <a:pPr>
              <a:spcAft>
                <a:spcPts val="1000"/>
              </a:spcAft>
              <a:defRPr sz="20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শিক্ষার্থীদের জন্য ছোট প্রশ্ন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১. খাদ্যের ছয়টি প্রধান উপাদানের নাম লেখো।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 কাজের ভিত্তিতে খাদ্যকে কীভাবে ভাগ করা যায়?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 ফুড টেকনোলজি ও ফুড ইঞ্জিনিয়ারিংয়ের একটি পার্থক্য লেখো।</a:t>
            </a:r>
          </a:p>
          <a:p>
            <a:pPr>
              <a:spcAft>
                <a:spcPts val="7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৪. ফুড ইঞ্জিনিয়ারের তিনটি দায়িত্ব উল্লেখ করো।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34884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অধ্যায় ৩: মেজারিং ইন্সট্রুমেন্টস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514600" cy="141732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8851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তাপমাত্রা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01368"/>
            <a:ext cx="21854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থার্মোমিটার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34440"/>
            <a:ext cx="2514600" cy="141732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10712" y="1344168"/>
            <a:ext cx="4828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চাপ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801368"/>
            <a:ext cx="21854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প্রেসার গেজ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234440"/>
            <a:ext cx="2514600" cy="141732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2" y="1344168"/>
            <a:ext cx="5725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ঘনত্ব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1801368"/>
            <a:ext cx="21854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হাইড্রোমিটার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234440"/>
            <a:ext cx="2514600" cy="141732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B4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14232" y="1344168"/>
            <a:ext cx="7409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41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সান্দ্রতা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1801368"/>
            <a:ext cx="21854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ভিসকোমিটার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3063240"/>
            <a:ext cx="3200400" cy="141732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84832" y="3172968"/>
            <a:ext cx="62068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প্রবাহ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2" y="3630168"/>
            <a:ext cx="2871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ফ্লোমিটার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3063240"/>
            <a:ext cx="3200400" cy="141732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42431" y="3172968"/>
            <a:ext cx="72006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আর্দ্রতা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1" y="3630168"/>
            <a:ext cx="28712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হাইগ্রোমিটার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4983480"/>
            <a:ext cx="7406640" cy="86868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42032" y="5093208"/>
            <a:ext cx="120577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ব্যবহারিক কাজ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5550408"/>
            <a:ext cx="707745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যন্ত্র শনাক্তকরণ → প্রধান অংশ চিহ্নিতকরণ → লেবেলিং → রেকর্ড সংরক্ষণ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73712" y="6528816"/>
            <a:ext cx="2391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1120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তাপমাত্রা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পরিমাপ</a:t>
            </a:r>
            <a:r>
              <a:rPr dirty="0">
                <a:latin typeface="Kalpurush"/>
                <a:ea typeface="Kalpurush"/>
                <a:cs typeface="Kalpurush"/>
              </a:rPr>
              <a:t>: </a:t>
            </a:r>
            <a:r>
              <a:rPr dirty="0" err="1">
                <a:latin typeface="Kalpurush"/>
                <a:ea typeface="Kalpurush"/>
                <a:cs typeface="Kalpurush"/>
              </a:rPr>
              <a:t>পারদ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থার্মোমিটার</a:t>
            </a:r>
            <a:endParaRPr dirty="0">
              <a:latin typeface="Kalpurush"/>
              <a:ea typeface="Kalpurush"/>
              <a:cs typeface="Kalpurush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658368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প্রয়োজনীয়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উপকরণ</a:t>
            </a:r>
            <a:r>
              <a:rPr dirty="0">
                <a:latin typeface="Kalpurush"/>
                <a:ea typeface="Kalpurush"/>
                <a:cs typeface="Kalpurush"/>
              </a:rPr>
              <a:t>: </a:t>
            </a:r>
            <a:r>
              <a:rPr dirty="0" err="1">
                <a:latin typeface="Kalpurush"/>
                <a:ea typeface="Kalpurush"/>
                <a:cs typeface="Kalpurush"/>
              </a:rPr>
              <a:t>পারদ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থার্মোমিটার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বিকার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বুনসেন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বার্নার</a:t>
            </a:r>
            <a:r>
              <a:rPr dirty="0">
                <a:latin typeface="Kalpurush"/>
                <a:ea typeface="Kalpurush"/>
                <a:cs typeface="Kalpurush"/>
              </a:rPr>
              <a:t>/</a:t>
            </a:r>
            <a:r>
              <a:rPr dirty="0" err="1">
                <a:latin typeface="Kalpurush"/>
                <a:ea typeface="Kalpurush"/>
                <a:cs typeface="Kalpurush"/>
              </a:rPr>
              <a:t>হিটার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এবং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পানি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বা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তরল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7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প্রথমে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থার্মোমিটার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প্রয়োজনীয়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সরঞ্জাম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প্রস্তুত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করতে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হবে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7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বিকারে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রাখা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তরল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হিটার</a:t>
            </a:r>
            <a:r>
              <a:rPr dirty="0">
                <a:latin typeface="Kalpurush"/>
                <a:ea typeface="Kalpurush"/>
                <a:cs typeface="Kalpurush"/>
              </a:rPr>
              <a:t>/</a:t>
            </a:r>
            <a:r>
              <a:rPr dirty="0" err="1">
                <a:latin typeface="Kalpurush"/>
                <a:ea typeface="Kalpurush"/>
                <a:cs typeface="Kalpurush"/>
              </a:rPr>
              <a:t>বার্নারের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সাহায্যে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উত্তপ্ত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করতে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হবে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7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থার্মোমিটারটি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সাবধানে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উত্তপ্ত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তরলের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মাঝে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স্থাপন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করে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রিডিং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নিতে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হবে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7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রিডিং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কাজের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রেকর্ড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সংরক্ষণ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করতে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হবে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828800"/>
            <a:ext cx="3474720" cy="22860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B4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99831" y="1938528"/>
            <a:ext cx="84991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41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নিরাপত্তা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2395728"/>
            <a:ext cx="3145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গরম তরল ও হিটিং ডিভাইস ব্যবহারে সতর্কতা অবলম্বন করতে হবে। PPE ব্যবহার এবং কাজ শেষে এলাকা পরিষ্কার করতে হবে।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73712" y="6528816"/>
            <a:ext cx="2391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740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অধ্যায়</a:t>
            </a:r>
            <a:r>
              <a:rPr dirty="0">
                <a:latin typeface="Kalpurush"/>
                <a:ea typeface="Kalpurush"/>
                <a:cs typeface="Kalpurush"/>
              </a:rPr>
              <a:t> ৪: </a:t>
            </a:r>
            <a:r>
              <a:rPr dirty="0" err="1">
                <a:latin typeface="Kalpurush"/>
                <a:ea typeface="Kalpurush"/>
                <a:cs typeface="Kalpurush"/>
              </a:rPr>
              <a:t>খাদ্য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প্রক্রিয়া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শিল্পে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প্রসেস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সিম্বল</a:t>
            </a:r>
            <a:endParaRPr dirty="0">
              <a:latin typeface="Kalpurush"/>
              <a:ea typeface="Kalpurush"/>
              <a:cs typeface="Kalpurush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42900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1" y="1252728"/>
            <a:ext cx="12137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প্রসেস সিম্বল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0992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খাদ্য প্রক্রিয়া শিল্পের বিভিন্ন প্রক্রিয়া ও যন্ত্রকে চিত্রের মাধ্যমে উপস্থাপনের প্রতীক।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43000"/>
            <a:ext cx="342900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53712" y="1252728"/>
            <a:ext cx="165301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ইন্সট্রুমেন্টাল সিম্বল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709928"/>
            <a:ext cx="30998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পরিমাপক/নিয়ন্ত্রণ যন্ত্রের প্রতীক ও চিত্র।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43000"/>
            <a:ext cx="342900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02752" y="1252728"/>
            <a:ext cx="17668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ইলেকট্রিক্যাল সিম্বল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70992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ইলেকট্রিক্যাল উপাদান ও সংযোগ বোঝাতে ব্যবহৃত প্রতীক।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1625" y="4178807"/>
            <a:ext cx="39466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যন্ত্র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30398" y="427024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876702" y="3977639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15583" y="4178807"/>
            <a:ext cx="5485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প্রবাহ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21300" y="427024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67604" y="3977639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62402" y="4178807"/>
            <a:ext cx="63671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নিয়ন্ত্রণ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12203" y="427024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58507" y="3977639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01208" y="4178807"/>
            <a:ext cx="74090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সিগন্যাল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03105" y="427024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449409" y="3977639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161840" y="4178807"/>
            <a:ext cx="60144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প্রসেস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73712" y="6528816"/>
            <a:ext cx="2391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69910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অধ্যায়</a:t>
            </a:r>
            <a:r>
              <a:rPr dirty="0">
                <a:latin typeface="Kalpurush"/>
                <a:ea typeface="Kalpurush"/>
                <a:cs typeface="Kalpurush"/>
              </a:rPr>
              <a:t> ৫: </a:t>
            </a:r>
            <a:r>
              <a:rPr dirty="0" err="1">
                <a:latin typeface="Kalpurush"/>
                <a:ea typeface="Kalpurush"/>
                <a:cs typeface="Kalpurush"/>
              </a:rPr>
              <a:t>ফুড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প্রসেসিং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ইকুইপমেন্টের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স্কিম্যাটিক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রিপ্রেজেন্টেশন</a:t>
            </a:r>
            <a:endParaRPr dirty="0">
              <a:latin typeface="Kalpurush"/>
              <a:ea typeface="Kalpurush"/>
              <a:cs typeface="Kalpurush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স্কিম্যাটিক রিপ্রেজেন্টেশন হলো যন্ত্র/প্রক্রিয়ার গঠন ও প্রবাহকে সরল চিত্রে প্রকাশ করা।</a:t>
            </a:r>
          </a:p>
          <a:p>
            <a:pPr>
              <a:spcAft>
                <a:spcPts val="800"/>
              </a:spcAft>
              <a:defRPr sz="17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স্প্রে ড্রায়ার, রোটারি ড্রায়ার, টানেল ড্রায়ার ও শেল-এন্ড-টিউব হিট এক্সচেঞ্জারের স্কিম্যাটিক চিত্র ব্যাখ্যা করা।</a:t>
            </a:r>
          </a:p>
          <a:p>
            <a:pPr>
              <a:spcAft>
                <a:spcPts val="800"/>
              </a:spcAft>
              <a:defRPr sz="17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লিকুইড এক্সট্রাকশন ইউনিট, ওপেন প্যান ইভাপোরেটর, মাল্টিপল ইফেক্ট ইভাপোরেটর ও সেন্ট্রিফিউগাল পাম্পের স্কিম্যাটিক বোঝা।</a:t>
            </a:r>
          </a:p>
          <a:p>
            <a:pPr>
              <a:spcAft>
                <a:spcPts val="800"/>
              </a:spcAft>
              <a:defRPr sz="17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নিউম্যাটিক, স্ক্রু, বেল্ট কনভেয়ার ও বাকেট এলিভেটরের স্কিম্যাটিক ধারণা।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954905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0673" y="5184648"/>
            <a:ext cx="55656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Feed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30398" y="527608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76702" y="4954905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88570" y="5184648"/>
            <a:ext cx="120257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Process Unit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21300" y="527608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67604" y="4954905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89329" y="5184648"/>
            <a:ext cx="178285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Heat/Mass Transfer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12203" y="527608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258507" y="4954905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5140" y="5184648"/>
            <a:ext cx="81304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Product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03105" y="527608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449409" y="4954905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124170" y="5184648"/>
            <a:ext cx="67678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Outlet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73712" y="6528816"/>
            <a:ext cx="2391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5165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অধ্যায় ৬: ইউনিট অপারেশন ও ইউনিট প্রসেস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486400" cy="425196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252728"/>
            <a:ext cx="16209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ইউনিট অপারেশন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09928"/>
            <a:ext cx="515721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ক্রিস্টালাইজেশন, পাস্তুরাইজেশন, ফিল্ট্রেশন, স্টেরিলাইজেশন, মিক্সিং, সাইজ রিডাকশন, ইমালসিফিকেশন, এক্সট্রাকশন, ডিস্টিলেশন ও হোমোজেনাইজেশন।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43000"/>
            <a:ext cx="5303520" cy="425196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3952" y="1252728"/>
            <a:ext cx="13163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ইউনিট প্রসেস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709928"/>
            <a:ext cx="49743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অ্যালকাইলেশন, হাইড্রোজেনেশন, অক্সিডেশন, ডিহাইড্রেশন, নাইট্রেশন, হাইড্রেশন, হ্যালোজেনেশন ও পলিমারাইজেশন।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7553" y="5669280"/>
            <a:ext cx="73949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মূল ধারণা: Unit Operation → প্রধানত ভৌত পরিবর্তন | Unit Process → রাসায়নিক পরিবর্তন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36455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অধ্যায়</a:t>
            </a:r>
            <a:r>
              <a:rPr dirty="0">
                <a:latin typeface="Kalpurush"/>
                <a:ea typeface="Kalpurush"/>
                <a:cs typeface="Kalpurush"/>
              </a:rPr>
              <a:t> ৭: </a:t>
            </a:r>
            <a:r>
              <a:rPr dirty="0" err="1">
                <a:latin typeface="Kalpurush"/>
                <a:ea typeface="Kalpurush"/>
                <a:cs typeface="Kalpurush"/>
              </a:rPr>
              <a:t>ইউনিট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ডাইমেনশন</a:t>
            </a:r>
            <a:endParaRPr dirty="0">
              <a:latin typeface="Kalpurush"/>
              <a:ea typeface="Kalpurush"/>
              <a:cs typeface="Kalpurush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6400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একক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ডাইমেনশনের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সংজ্ঞা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এবং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প্রয়োজনীয়তা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মাপের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বিভিন্ন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একক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এবং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বিভিন্ন</a:t>
            </a:r>
            <a:r>
              <a:rPr dirty="0">
                <a:latin typeface="Kalpurush"/>
                <a:ea typeface="Kalpurush"/>
                <a:cs typeface="Kalpurush"/>
              </a:rPr>
              <a:t> System of Units </a:t>
            </a:r>
            <a:r>
              <a:rPr dirty="0" err="1">
                <a:latin typeface="Kalpurush"/>
                <a:ea typeface="Kalpurush"/>
                <a:cs typeface="Kalpurush"/>
              </a:rPr>
              <a:t>সম্পর্কে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ধারণা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>
                <a:latin typeface="Kalpurush"/>
                <a:ea typeface="Kalpurush"/>
                <a:cs typeface="Kalpurush"/>
              </a:rPr>
              <a:t>Dimensional Equation-</a:t>
            </a:r>
            <a:r>
              <a:rPr dirty="0" err="1">
                <a:latin typeface="Kalpurush"/>
                <a:ea typeface="Kalpurush"/>
                <a:cs typeface="Kalpurush"/>
              </a:rPr>
              <a:t>এর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ব্যবহার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>
                <a:latin typeface="Kalpurush"/>
                <a:ea typeface="Kalpurush"/>
                <a:cs typeface="Kalpurush"/>
              </a:rPr>
              <a:t>Specific Gravity-</a:t>
            </a:r>
            <a:r>
              <a:rPr dirty="0" err="1">
                <a:latin typeface="Kalpurush"/>
                <a:ea typeface="Kalpurush"/>
                <a:cs typeface="Kalpurush"/>
              </a:rPr>
              <a:t>এর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ধারণা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পরিমাপ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পদ্ধতি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08760"/>
            <a:ext cx="3657600" cy="219456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2" y="1618488"/>
            <a:ext cx="17107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Specific Gravity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2075688"/>
            <a:ext cx="3328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নির্দিষ্ট তাপমাত্রায় কোনো পদার্থের ঘনত্ব ও রেফারেন্স পদার্থের ঘনত্বের তুলনামূলক মান।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977639"/>
            <a:ext cx="3657600" cy="13716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16952" y="4087368"/>
            <a:ext cx="14093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ব্যবহারিক কাজ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4544568"/>
            <a:ext cx="33284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Gravity bottle (Pycnometer) ব্যবহার করে সরিষার তেলের আপেক্ষিক গুরুত্ব নির্ণয়।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81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359746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অধ্যায় ৮: তাপ ও তাপ স্থানান্তর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3429000" cy="150876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298448"/>
            <a:ext cx="15392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তাপ ও তাপমাত্রা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55648"/>
            <a:ext cx="309981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তাপ ও তাপমাত্রার ধারণা এবং পার্থক্য।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429000" cy="150876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53712" y="1298448"/>
            <a:ext cx="12362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তাপ স্থানান্তর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75564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তাপ এক স্থান থেকে অন্য স্থানে স্থানান্তরের ধারণা।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188720"/>
            <a:ext cx="3429000" cy="150876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8471" y="1298448"/>
            <a:ext cx="18790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তাপ স্থানান্তরের ধরন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75564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Conduction, Convection এবং Radiation।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18560"/>
            <a:ext cx="2574036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20986" y="3995928"/>
            <a:ext cx="50366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উৎস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78124" y="401116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24428" y="3718560"/>
            <a:ext cx="2574036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79890" y="3995928"/>
            <a:ext cx="106311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তাপ স্থানান্তর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16752" y="401116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63056" y="3718560"/>
            <a:ext cx="2574036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74623" y="3995928"/>
            <a:ext cx="95090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খাদ্য/মাধ্যম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55380" y="401116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01684" y="3718560"/>
            <a:ext cx="2574036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76808" y="3995928"/>
            <a:ext cx="142378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তাপমাত্রা পরিবর্তন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5074920"/>
            <a:ext cx="9601200" cy="86868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44751" y="5184648"/>
            <a:ext cx="190148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খাদ্য প্রক্রিয়াকরণে প্রয়োগ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1" y="5641848"/>
            <a:ext cx="92720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Steady ও Unsteady state heat transfer এবং খাদ্যের thermal processing-এর ধারণা; তাপ, তাপমাত্রা ও heat transfer-এর সমস্যা সমাধান।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82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53543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অধ্যায়</a:t>
            </a:r>
            <a:r>
              <a:rPr dirty="0">
                <a:latin typeface="Kalpurush"/>
                <a:ea typeface="Kalpurush"/>
                <a:cs typeface="Kalpurush"/>
              </a:rPr>
              <a:t> ৯: </a:t>
            </a:r>
            <a:r>
              <a:rPr dirty="0" err="1">
                <a:latin typeface="Kalpurush"/>
                <a:ea typeface="Kalpurush"/>
                <a:cs typeface="Kalpurush"/>
              </a:rPr>
              <a:t>কনভার্সন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ফ্যাক্টর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ভর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শক্তি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ব্যালেন্স</a:t>
            </a:r>
            <a:endParaRPr dirty="0">
              <a:latin typeface="Kalpurush"/>
              <a:ea typeface="Kalpurush"/>
              <a:cs typeface="Kalpurush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3474720" cy="19202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298448"/>
            <a:ext cx="19543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Conversion 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55648"/>
            <a:ext cx="3145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ভর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আয়তন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চাপ</a:t>
            </a:r>
            <a:r>
              <a:rPr dirty="0">
                <a:latin typeface="Kalpurush"/>
                <a:ea typeface="Kalpurush"/>
                <a:cs typeface="Kalpurush"/>
              </a:rPr>
              <a:t>, </a:t>
            </a:r>
            <a:r>
              <a:rPr dirty="0" err="1">
                <a:latin typeface="Kalpurush"/>
                <a:ea typeface="Kalpurush"/>
                <a:cs typeface="Kalpurush"/>
              </a:rPr>
              <a:t>বল</a:t>
            </a:r>
            <a:r>
              <a:rPr dirty="0">
                <a:latin typeface="Kalpurush"/>
                <a:ea typeface="Kalpurush"/>
                <a:cs typeface="Kalpurush"/>
              </a:rPr>
              <a:t> ও </a:t>
            </a:r>
            <a:r>
              <a:rPr dirty="0" err="1">
                <a:latin typeface="Kalpurush"/>
                <a:ea typeface="Kalpurush"/>
                <a:cs typeface="Kalpurush"/>
              </a:rPr>
              <a:t>শক্তির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বিভিন্ন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এককের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মধ্যে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রূপান্তর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474720" cy="19202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07992" y="1298448"/>
            <a:ext cx="147829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Mass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755648"/>
            <a:ext cx="3145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খাদ্য প্রকৌশলের বিভিন্ন অপারেশনে ভর সংরক্ষণ ও ভর ব্যালেন্সের প্রয়োগ।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474720" cy="19202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57031" y="1298448"/>
            <a:ext cx="16754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Energy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755648"/>
            <a:ext cx="3145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খাদ্য প্রক্রিয়ায় শক্তির হিসাব ও প্রয়োগের ধারণা।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69080"/>
            <a:ext cx="3486912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19716" y="4270248"/>
            <a:ext cx="61908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Input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91000" y="436168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37304" y="4069080"/>
            <a:ext cx="3486912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90268" y="4270248"/>
            <a:ext cx="78098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Process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42504" y="436168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88808" y="4069080"/>
            <a:ext cx="3486912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62611" y="4270248"/>
            <a:ext cx="73930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5599" y="5349240"/>
            <a:ext cx="69188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মূল নীতি: ইনপুট ও আউটপুটের মধ্যে ভর ও শক্তির হিসাব সঠিকভাবে সম্পন্ন করা।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83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62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41633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ব্যবহারিক: তাপমাত্রার একক রূপান্তর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47472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252728"/>
            <a:ext cx="12843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Celsius (°C)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09928"/>
            <a:ext cx="3145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ফারেনহাইট, কেলভিন, র‌্যাঙ্কিন ও রোমার স্কেলের সাথে রূপান্তর।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43000"/>
            <a:ext cx="347472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07992" y="1252728"/>
            <a:ext cx="6815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ধাপ 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709928"/>
            <a:ext cx="314553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প্রদত্ত তাপমাত্রার একক শনাক্ত করুন।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43000"/>
            <a:ext cx="347472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57031" y="1252728"/>
            <a:ext cx="7008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ধাপ 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709928"/>
            <a:ext cx="3145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সঠিক রূপান্তর সমীকরণ নির্বাচন করে মান বসান।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6428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75602" y="4041648"/>
            <a:ext cx="84670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প্রদত্ত মান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30398" y="405688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876702" y="376428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04174" y="4041648"/>
            <a:ext cx="77136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সমীকরণ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21300" y="405688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67604" y="376428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00499" y="4041648"/>
            <a:ext cx="96051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মান বসানো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12203" y="405688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58507" y="376428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83762" y="4041648"/>
            <a:ext cx="5757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হিসাব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03105" y="405688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449409" y="376428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108140" y="4041648"/>
            <a:ext cx="7088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ফলাফল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212080"/>
            <a:ext cx="8503920" cy="7772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993392" y="5321808"/>
            <a:ext cx="7473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অনুশীলন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5636133"/>
            <a:ext cx="81747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 dirty="0" err="1">
                <a:latin typeface="Kalpurush"/>
                <a:ea typeface="Kalpurush"/>
                <a:cs typeface="Kalpurush"/>
              </a:rPr>
              <a:t>বিভিন্ন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তাপমাত্রা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স্কেলের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মধ্যে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রূপান্তর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করে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ফলাফল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খাতায়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লিখুন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এবং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রেকর্ড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সংরক্ষণ</a:t>
            </a:r>
            <a:r>
              <a:rPr dirty="0">
                <a:latin typeface="Kalpurush"/>
                <a:ea typeface="Kalpurush"/>
                <a:cs typeface="Kalpurush"/>
              </a:rPr>
              <a:t> </a:t>
            </a:r>
            <a:r>
              <a:rPr dirty="0" err="1">
                <a:latin typeface="Kalpurush"/>
                <a:ea typeface="Kalpurush"/>
                <a:cs typeface="Kalpurush"/>
              </a:rPr>
              <a:t>করুন</a:t>
            </a:r>
            <a:r>
              <a:rPr dirty="0">
                <a:latin typeface="Kalpurush"/>
                <a:ea typeface="Kalpurush"/>
                <a:cs typeface="Kalpurush"/>
              </a:rPr>
              <a:t>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84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37273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ব্যবহারিক: চাপের একক রূপান্তর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64008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চাপের একক: dyne/cm², PSI, N/m², cm Hg এবং ft of water।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প্রদত্ত চাপের মানকে নির্দিষ্ট রূপান্তর সমীকরণ ব্যবহার করে অন্য এককে প্রকাশ করতে হবে।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গাণিতিক হিসাব সম্পন্ন করে ফলাফল খাতায় লিখতে হবে।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কাজের রেকর্ড সংরক্ষণ করতে হবে।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83489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5070" y="5093207"/>
            <a:ext cx="98777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dyne/cm²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30398" y="512749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76702" y="483489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72490" y="5093207"/>
            <a:ext cx="43473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PSI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21300" y="512749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67604" y="483489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2402" y="5093207"/>
            <a:ext cx="63671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N/m²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12203" y="512749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258507" y="483489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14032" y="5093207"/>
            <a:ext cx="71526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cm Hg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303105" y="512749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449409" y="483489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44019" y="5093207"/>
            <a:ext cx="83708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ft water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85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801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34002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অধ্যায় ১০: সলিউশন ও মিশ্রণ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429000" cy="173736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252728"/>
            <a:ext cx="9845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0992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দ্রবণ ও মিশ্রণের সংজ্ঞা এবং solubility-এর ধারণা।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43000"/>
            <a:ext cx="3429000" cy="173736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53712" y="1252728"/>
            <a:ext cx="15552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Concentration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70992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Normality, Molarity ও Molality-এর ধারণা।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143000"/>
            <a:ext cx="3429000" cy="173736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8471" y="1252728"/>
            <a:ext cx="124585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Percentage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70992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Mass%, Mole% ও Volume% এবং তাদের পারস্পরিক সম্পর্ক।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10939"/>
            <a:ext cx="2574036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31218" y="3950207"/>
            <a:ext cx="68320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Solute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78124" y="400354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24428" y="3710939"/>
            <a:ext cx="2574036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20954" y="3950207"/>
            <a:ext cx="78098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Solvent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16752" y="400354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63056" y="3710939"/>
            <a:ext cx="2574036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25919" y="3950207"/>
            <a:ext cx="84830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Solution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55380" y="400354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01684" y="3710939"/>
            <a:ext cx="2574036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28104" y="3950207"/>
            <a:ext cx="132119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Concentration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983480"/>
            <a:ext cx="8503920" cy="9144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93392" y="5093208"/>
            <a:ext cx="129394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ব্যবহারিক হিসাব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5550408"/>
            <a:ext cx="81747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নমুনা দ্রবণের উপাত্ত ব্যবহার করে mass%, mole%, volume%, molality ও normality নির্ণয়।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86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290656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প্রধান ব্যবহারিক জবসমূহ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3520440" cy="12344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1069848"/>
            <a:ext cx="5757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জব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527048"/>
            <a:ext cx="31912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খাদ্য শিল্পে ব্যবহৃত যন্ত্রপাতি পর্যবেক্ষণ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960120"/>
            <a:ext cx="3520440" cy="12344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53712" y="1069848"/>
            <a:ext cx="5757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জব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527048"/>
            <a:ext cx="31912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তাপমাত্রা, চাপ, ঘনত্ব, সান্দ্রতা, প্রবাহ ও আর্দ্রতা পরিমাপক যন্ত্র শনাক্তকরণ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960120"/>
            <a:ext cx="3520440" cy="12344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39912" y="1069848"/>
            <a:ext cx="5757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জব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527048"/>
            <a:ext cx="31912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পারদ থার্মোমিটার দিয়ে উত্তপ্ত তরলের তাপমাত্রা পরিমাপ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0320"/>
            <a:ext cx="3520440" cy="12344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512" y="2670048"/>
            <a:ext cx="5757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জব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127248"/>
            <a:ext cx="31912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ফুড ইঞ্জিনিয়ারিং যন্ত্রপাতি, সরঞ্জাম ও অ্যানালাইজার শনাক্তকরণ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560320"/>
            <a:ext cx="3520440" cy="12344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3712" y="2670048"/>
            <a:ext cx="5757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জব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127248"/>
            <a:ext cx="31912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ফুড ইঞ্জিনিয়ারিং যন্ত্রপাতির প্রতীক অঙ্কন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560320"/>
            <a:ext cx="3520440" cy="12344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39912" y="2670048"/>
            <a:ext cx="5757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জব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3127248"/>
            <a:ext cx="31912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ড্রায়ার, ইভাপোরেটর ও হিট এক্সচেঞ্জারের স্কিম্যাটিক ডায়াগ্রাম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60520"/>
            <a:ext cx="3520440" cy="12344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7512" y="4270248"/>
            <a:ext cx="5757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জব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727448"/>
            <a:ext cx="31912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গ্র্যাভিটি বোতল দিয়ে সরিষার তেলের আপেক্ষিক গুরুত্ব পরিমাপ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160520"/>
            <a:ext cx="3520440" cy="12344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53712" y="4270248"/>
            <a:ext cx="5757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জব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727448"/>
            <a:ext cx="31912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তাপমাত্রা ও চাপের একক রূপান্তর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160520"/>
            <a:ext cx="3520440" cy="123444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39912" y="4270248"/>
            <a:ext cx="57579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জব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4727448"/>
            <a:ext cx="31912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দ্রবণ ও মিশ্রণ সম্পর্কিত গাণিতিক সমস্যা সমাধান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87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379943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ল্যাবরেটরি নিরাপত্তা ও পরিচ্ছন্নতা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অ্যাপ্রন, হেয়ার নেট, মাস্ক, হ্যান্ড গ্লাভস ও সেফটি সু ব্যবহার করতে হবে।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কাজ শুরুর আগে কাজের এলাকা ও যন্ত্রপাতি ভালোভাবে পরিষ্কার করতে হবে।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গরম তরল, হিটার/বার্নার ও ভঙ্গুর কাচের যন্ত্র ব্যবহারে সতর্ক থাকতে হবে।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পরিমাপের যন্ত্র সঠিকভাবে ব্যবহার ও রিডিং গ্রহণ করতে হবে।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কাজ শেষে টুলস, ইকুইপমেন্ট ও কাজের এলাকা পরিষ্কার করে যথাস্থানে রাখতে হবে।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প্রতিটি কাজের রেকর্ড যথাযথভাবে সংরক্ষণ করতে হবে।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88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32976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মূল্যায়ন ও শিক্ষার্থী অংশগ্রহণ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2900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8947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6E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শ্রেণিকক্ষ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0136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সংজ্ঞা, শ্রেণিবিন্যাস, ব্যবহার, প্রতীক ও ডায়াগ্রামভিত্তিক প্রশ্নোত্তর।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E6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53712" y="1344168"/>
            <a:ext cx="5357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ল্যাব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0136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যন্ত্র শনাক্তকরণ, অংশ চিহ্নিতকরণ, পরিমাপ, হিসাব ও রেকর্ড সংরক্ষণ।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429000" cy="1828800"/>
          </a:xfrm>
          <a:prstGeom prst="roundRect">
            <a:avLst/>
          </a:prstGeom>
          <a:solidFill>
            <a:srgbClr val="EFF7F7"/>
          </a:solidFill>
          <a:ln w="19050">
            <a:solidFill>
              <a:srgbClr val="378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48471" y="1344168"/>
            <a:ext cx="7168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8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পরীক্ষা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801368"/>
            <a:ext cx="3099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মিড-টার্ম মূল্যায়ন এবং সেমিস্টার শেষে রিভিউ ও বোর্ড পরীক্ষার প্রস্তুতি।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46321" y="4133087"/>
            <a:ext cx="50526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শেখা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30398" y="422452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876702" y="393192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94556" y="4133087"/>
            <a:ext cx="79060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অনুশীলন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21300" y="422452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67604" y="393192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77443" y="4133087"/>
            <a:ext cx="80663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পর্যবেক্ষণ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12203" y="422452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58507" y="393192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18841" y="4133087"/>
            <a:ext cx="70564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পরিমাপ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03105" y="4224528"/>
            <a:ext cx="137160" cy="320040"/>
          </a:xfrm>
          <a:prstGeom prst="rightArrow">
            <a:avLst/>
          </a:prstGeom>
          <a:solidFill>
            <a:srgbClr val="E6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449409" y="3931920"/>
            <a:ext cx="2026310" cy="914400"/>
          </a:xfrm>
          <a:prstGeom prst="roundRect">
            <a:avLst/>
          </a:prstGeom>
          <a:solidFill>
            <a:srgbClr val="EFF7F7"/>
          </a:solidFill>
          <a:ln>
            <a:solidFill>
              <a:srgbClr val="007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120162" y="4133087"/>
            <a:ext cx="68480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3755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মূল্যায়ন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89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378661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ক্লাস কুইজ: নিজেকে যাচাই করুন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241280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১. ফুড ইঞ্জিনিয়ারিং বলতে কী বোঝায়?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২. তাপমাত্রা মাপার একটি যন্ত্রের নাম লিখুন।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৩. Specific Gravity কী?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৪. Unit Operation ও Unit Process-এর মধ্যে পার্থক্য কী?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৫. তাপ স্থানান্তরের তিনটি প্রক্রিয়ার নাম লিখুন।</a:t>
            </a:r>
          </a:p>
          <a:p>
            <a:pPr>
              <a:spcAft>
                <a:spcPts val="800"/>
              </a:spcAft>
              <a:defRPr sz="19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৬. Mass% ও Volume%-এর ধারণা কী?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90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40615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সারসংক্ষেপ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খাদ্য ও ফুড ইঞ্জিনিয়ারিং-এর মৌলিক ধারণা → অ্যাপ্লায়েন্স ও ইকুইপমেন্ট → মেজারিং ইন্সট্রুমেন্ট।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প্রসেস সিম্বল ও স্কিম্যাটিক রিপ্রেজেন্টেশন খাদ্য প্রক্রিয়ার যন্ত্র ও প্রবাহ বুঝতে সহায়তা করে।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ইউনিট অপারেশন, তাপ স্থানান্তর, একক-ডাইমেনশন ও স্পেসিফিক গ্র্যাভিটি ব্যবহারিক খাদ্য প্রকৌশলের গুরুত্বপূর্ণ ভিত্তি।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Conversion factor, mass-energy balance এবং solution-mixture calculation বাস্তব প্রক্রিয়ায় প্রয়োগযোগ্য।</a:t>
            </a:r>
          </a:p>
          <a:p>
            <a:pPr>
              <a:spcAft>
                <a:spcPts val="800"/>
              </a:spcAft>
              <a:defRPr sz="1800">
                <a:solidFill>
                  <a:srgbClr val="232D32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ল্যাবরেটরিতে নিরাপত্তা, পরিচ্ছন্নতা ও সঠিক রেকর্ড সংরক্ষণ অপরিহার্য।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21291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26911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9210" y="6528816"/>
            <a:ext cx="2936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3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91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90500"/>
            <a:ext cx="12191695" cy="6858000"/>
          </a:xfrm>
          <a:prstGeom prst="rect">
            <a:avLst/>
          </a:prstGeom>
          <a:solidFill>
            <a:srgbClr val="14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alpurush"/>
              <a:ea typeface="Kalpurush"/>
              <a:cs typeface="Kalpurush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76881" y="1965960"/>
            <a:ext cx="140775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ধন্যবাদ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5557" y="3063240"/>
            <a:ext cx="4530406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6AA37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কোনো প্রশ্ন আছে?</a:t>
            </a:r>
          </a:p>
          <a:p>
            <a:pPr algn="ctr">
              <a:defRPr sz="1500">
                <a:solidFill>
                  <a:srgbClr val="FFFFFF"/>
                </a:solidFill>
                <a:latin typeface="Kalpurush"/>
                <a:ea typeface="Kalpurush"/>
                <a:cs typeface="Kalpurush"/>
              </a:defRPr>
            </a:pPr>
            <a:r>
              <a:rPr>
                <a:latin typeface="Kalpurush"/>
                <a:ea typeface="Kalpurush"/>
                <a:cs typeface="Kalpurush"/>
              </a:rPr>
              <a:t>Food Engineering Fundamentals | Course Code: 26911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২.৪ ড্রায়ারের ব্যবহার (Uses of Dryer)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থেকে আর্দ্রতা অপসারণ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ড্রায়ার খাদ্য থেকে নির্দিষ্ট পরিমাণ পানি/আর্দ্রতা অপসারণ করে খাদ্যের সংরক্ষণকাল বাড়ায়।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শুকানো খাদ্য: দুধের গুঁড়া, শুকনো ফল, শাকসবজি, মসলা, মাছ, শস্য ও স্টার্চজাত পণ্য।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সুবিধা: ওজন ও আয়তন কমে, পরিবহন সহজ হয় এবং অনেক ক্ষেত্রে জীবাণুর বৃদ্ধি ধীর হয়।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প্রধান ধরন: Tray dryer, cabinet dryer, spray dryer, drum dryer ও freeze dryer।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তাপমাত্রা, বায়ুপ্রবাহ, আর্দ্রতা, শুকানোর সময় ও খাদ্যের পুরুত্ব পণ্যের গুণমানকে প্রভাবিত করে।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সতর্কতা: অতিরিক্ত তাপে রং, স্বাদ, পুষ্টি ও গঠন নষ্ট হতে পারে।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16</a:t>
            </a:r>
          </a:p>
        </p:txBody>
      </p:sp>
      <p:pic>
        <p:nvPicPr>
          <p:cNvPr id="7" name="Picture – tray_dryer" descr="ট্রে ড্রায়া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000" y="1500000"/>
            <a:ext cx="28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২.৫ ইভাপোরেটরের ব্যবহার (Uses of Evaporator)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তরল খাদ্য ঘন করা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ইভাপোরেটর তাপ প্রয়োগ করে তরল খাদ্যের কিছু পানি বাষ্পে পরিণত করে; ফলে দ্রবণের ঘনত্ব বাড়ে।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ব্যবহার: দুধ ঘন করা, ফলের রস ঘনীভূত করা, চিনির সিরাপ তৈরি ও খাদ্য উপাদান প্রস্তুত।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প্রধান অংশ: হিটিং সারফেস, বাষ্প/ভ্যাকুয়াম ব্যবস্থা, ফিড ইনলেট, কনসেনট্রেট আউটলেট ও কনডেনসার।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ভ্যাকুয়ামে কম তাপমাত্রায় বাষ্পীভবন সম্ভব; তাপ-সংবেদনশীল খাদ্যের গুণমান রক্ষা করতে সহায়তা করে।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প্রধান ধরন: Open pan, falling-film, rising-film ও forced-circulation evaporator।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মূল ধারণা: পানি অপসারণ → দ্রবীভূত কঠিন পদার্থের ঘনত্ব বৃদ্ধি।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17</a:t>
            </a:r>
          </a:p>
        </p:txBody>
      </p:sp>
      <p:pic>
        <p:nvPicPr>
          <p:cNvPr id="7" name="Picture – evaporator" descr="ইভাপোরেট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000" y="1500000"/>
            <a:ext cx="28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২.৬ হিট এক্সচেঞ্জারের ব্যবহার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তাপ স্থানান্তরের মাধ্যমে উত্তপ্ত বা শীতল করা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হিট এক্সচেঞ্জার দুই তরল/মাধ্যমের মধ্যে তাপ স্থানান্তর করে; সাধারণত মাধ্যম দুটি সরাসরি মেশে না।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ব্যবহার: দুধ পাস্তুরাইজেশন, খাদ্য গরম করা, দ্রুত ঠান্ডা করা, রেফ্রিজারেশন ও তাপ পুনরুদ্ধার।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প্রধান ধরন: Double-pipe, shell-and-tube এবং plate heat exchanger।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Plate heat exchanger দুধ ও তরল খাদ্যে বহুল ব্যবহৃত; পরিষ্কার ও তাপ স্থানান্তর কার্যকর।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কার্যকারিতা নির্ভর করে তাপমাত্রার পার্থক্য, প্রবাহহার, পৃষ্ঠের ক্ষেত্রফল ও fouling-এর ওপর।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নিরাপত্তা: পাস্তুরাইজেশনে নির্ধারিত তাপমাত্রা ও সময় নিশ্চিত করতে হবে।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18</a:t>
            </a:r>
          </a:p>
        </p:txBody>
      </p:sp>
      <p:pic>
        <p:nvPicPr>
          <p:cNvPr id="7" name="Picture – shell_tube" descr="শেল-অ্যান্ড-টিউব হিট এক্সচেঞ্জা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000" y="2000000"/>
            <a:ext cx="3100000" cy="211363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২.৭ সেন্ট্রিফিউগাল পাম্পের কার্যপ্রণালি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Centrifugal pump — অংশ ও কাজ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প্রধান অংশ: impeller, casing, suction pipe, foot valve/strainer, delivery pipe, delivery valve ও pressure gauge।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ইমপেলার ঘুরলে তরলের বেগ ও চাপ বাড়ে; casing-এ বেগের শক্তির একাংশ চাপশক্তিতে রূপান্তরিত হয়।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চাপের পার্থক্যের কারণে suction pipe দিয়ে তরল পাম্পে প্রবেশ করে এবং delivery pipe দিয়ে বের হয়।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পাম্প চালুর আগে suction line-এ তরল ভরা (priming) প্রয়োজন হতে পারে; পাম্পের নির্দেশনা অনুসরণ করতে হবে।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ব্যবহার: দুধ, পানি, জুস ও পরিষ্কার তরল স্থানান্তর—তবে খাদ্য-উপযোগী উপাদান ও স্যানিটারি নকশা জরুরি।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প্রবাহপথ: উৎস/সাম্প → suction pipe → impeller/casing → delivery pipe → গন্তব্য।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19</a:t>
            </a:r>
          </a:p>
        </p:txBody>
      </p:sp>
      <p:pic>
        <p:nvPicPr>
          <p:cNvPr id="7" name="Picture – centrifugal_pump" descr="সেন্ট্রিফিউগাল পাম্প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000" y="1500000"/>
            <a:ext cx="28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২.৮ পাম্প নির্বাচনে গুরুত্বপূর্ণ বিষয়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শিল্পে উপযুক্ত পাম্প নির্বাচন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প্রয়োজনীয় flow rate (প্রবাহহার) এবং total head/চাপ নির্ধারণ করতে হবে।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তরলের সান্দ্রতা, তাপমাত্রা, কঠিন কণার উপস্থিতি ও রাসায়নিক বৈশিষ্ট্য বিবেচনা করতে হবে।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খাদ্যের সংস্পর্শে থাকা অংশ food-grade, corrosion-resistant এবং পরিষ্কার করা সহজ হওয়া উচিত।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পাম্পে cavitation, leakage, অতিরিক্ত শব্দ ও কম প্রবাহের লক্ষণ পর্যবেক্ষণ করতে হবে।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সঠিক পাম্প শক্তি খরচ, পণ্যের ক্ষতি ও রক্ষণাবেক্ষণ ব্যয় কমাতে সাহায্য করে।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ব্যবহারিক কাজ: একটি তরল খাদ্য পরিবহনের জন্য পাম্প বেছে নেওয়ার কারণ লিখো।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20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২.৯ অধ্যায় ২ — অনুশীলনী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সংক্ষিপ্ত ও বর্ণনামূলক প্রশ্ন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১. ড্রায়ার, ইভাপোরেটর ও হিট এক্সচেঞ্জারের কাজ লিখো।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 ড্রায়ার ও ইভাপোরেটরের মধ্যে পার্থক্য ব্যাখ্যা করো।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 সেন্ট্রিফিউগাল পাম্পের প্রধান অংশগুলোর নাম লিখো।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৪. সেন্ট্রিফিউগাল পাম্প কীভাবে তরল পরিবহন করে—ধাপসহ ব্যাখ্যা করো।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 খাদ্য শিল্পে পাম্প নির্বাচনের পাঁচটি বিষয় উল্লেখ করো।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৬. খাদ্য প্রক্রিয়ায় হিট এক্সচেঞ্জার ব্যবহারের দুটি উদাহরণ দাও।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পরীক্ষার প্রস্তুতি: সংজ্ঞা + কার্যপ্রণালি + অংশের নাম + ব্যবহার — চারটি দিক প্রস্তুত রাখো।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21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৩.০ ভূমিকা: পরিমাপ ও পরিমাপক যন্ত্রপাতি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পরিমাপ, যন্ত্র ও প্রক্রিয়া-পরামিতি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পরিমাপ হলো কোনো ভৌত রাশির মানকে নির্দিষ্ট একক ও মানদণ্ডের সঙ্গে তুলনা করে নির্ণয় করা।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শিল্পে তাপমাত্রা, চাপ, ঘনত্ব, সান্দ্রতা, প্রবাহহার ও আর্দ্রতা পরিমাপ করা হয়।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পরিমাপের সঠিকতা পণ্যের গুণমান, খাদ্য নিরাপত্তা, উৎপাদন নিয়ন্ত্রণ ও রেকর্ড সংরক্ষণে গুরুত্বপূর্ণ।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যন্ত্র নির্বাচন, সঠিক ব্যবহার, calibration এবং নিয়মিত রক্ষণাবেক্ষণ নির্ভরযোগ্য ফল নিশ্চিত করে।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এই অধ্যায়ে: Measurement system → পরিমাপক যন্ত্র → তাপ, চাপ, ঘনত্ব, সান্দ্রতা, প্রবাহ ও তাপমাত্রা।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23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৩.১ পরিমাপ ও পরিমাপ পদ্ধতি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Measurement and measurement system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পরিমাপ পদ্ধতি হলো নির্দিষ্ট রাশির মান নির্ণয়, প্রদর্শন ও নথিভুক্ত করার ব্যবস্থা।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Direct measurement: যন্ত্র থেকে সরাসরি মান পড়া—যেমন থার্মোমিটারে তাপমাত্রা পড়া।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Indirect measurement: একাধিক পরিমাপ ও সূত্র ব্যবহার করে মান বের করা—যেমন ভর ও আয়তন থেকে ঘনত্ব নির্ণয়।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একটি পরিমাপ ব্যবস্থায় সেন্সর/প্রোব, ট্রান্সডিউসার, সিগন্যাল প্রসেসিং ও ডিসপ্লে থাকতে পারে।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পরিমাপে একক, যন্ত্রের রেঞ্জ, resolution, accuracy এবং calibration বিবেচনা করতে হয়।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উদাহরণ: ঘনত্ব ρ = m/V; এখানে m = ভর এবং V = আয়তন।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24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৩.২ পরিমাপক যন্ত্রের ধরন ও ব্যবহার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শিল্পে সাধারণ measuring instruments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তাপমাত্রা: liquid-in-glass thermometer, digital thermometer, thermocouple ও RTD।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চাপ: pressure gauge, manometer ও pressure transmitter।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প্রবাহ: rotameter, orifice meter, turbine meter ও flow sensor।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ভর/ওজন: weighing balance ও load cell; আর্দ্রতা: moisture meter/hygrometer।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যন্ত্র ব্যবহারের আগে zero check, পরিষ্কার অবস্থা, উপযুক্ত range ও calibration status যাচাই করতে হবে।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ভুল রিডিং এড়াতে: সঠিক অবস্থানে সেন্সর বসাও এবং এককসহ মান লিখে রাখো।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25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৩.৩ তাপ ও তাপমাত্রা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Heat বনাম Temperature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তাপ (Heat): তাপমাত্রার পার্থক্যের কারণে এক বস্তু থেকে অন্য বস্তুতে স্থানান্তরিত শক্তি। একক: joule (J)।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তাপমাত্রা (Temperature): কোনো বস্তু কতটা গরম বা ঠান্ডা তার পরিমাপ। একক: °C, °F বা K।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তাপের পরিমাণ ভর, পদার্থের specific heat এবং তাপমাত্রার পরিবর্তনের ওপর নির্ভর করে।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সংবেদনশীল খাদ্যে উত্তাপ ও শীতলীকরণের হার রং, স্বাদ, পুষ্টি, গঠন ও নিরাপত্তায় প্রভাব ফেলে।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সাধারণ থার্মোমিটারে তাপমাত্রা পড়ার সময় চোখকে স্কেলের সমতলে রাখতে হয়।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পার্থক্য: Heat হলো শক্তির স্থানান্তর; Temperature হলো গরম-ঠান্ডার পরিমাপ।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26</a:t>
            </a:r>
          </a:p>
        </p:txBody>
      </p:sp>
      <p:pic>
        <p:nvPicPr>
          <p:cNvPr id="7" name="Picture – heat_modes" descr="তাপ স্থানান্তরের তিন পদ্ধত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000" y="1500000"/>
            <a:ext cx="2800000" cy="303333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৩.৪ চাপ (Pressure) ও চাপ পরিমাপক যন্ত্র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চাপের ধারণা ও একক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চাপ হলো একক ক্ষেত্রফলের ওপর লম্বভাবে ক্রিয়াশীল বল। সূত্র: P = F/A।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SI একক pascal (Pa); প্রচলিত একক kPa, bar, atm, psi ও mmHg।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চাপ মাপার যন্ত্র: pressure gauge, manometer ও pressure transmitter।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শিল্পে পাম্প, বয়লার, স্টিম লাইন, ফিল্টার, প্যাকেজিং ও প্রক্রিয়াকরণ ট্যাংকে চাপ পর্যবেক্ষণ করা হয়।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Gauge pressure বায়ুমণ্ডলীয় চাপের তুলনায় মাপা হয়; absolute pressure শূন্য চাপের তুলনায় মাপা হয়।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নিরাপত্তা: চাপযুক্ত যন্ত্রে অনুমোদিত সীমা অতিক্রম করা যাবে না।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27</a:t>
            </a:r>
          </a:p>
        </p:txBody>
      </p:sp>
      <p:pic>
        <p:nvPicPr>
          <p:cNvPr id="7" name="Picture – pressure_gauge" descr="প্রেসার গে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000" y="1800000"/>
            <a:ext cx="28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৩.৫ ঘনত্ব ও আপেক্ষিক ঘনত্ব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Density and Specific Gravity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ঘনত্ব হলো একক আয়তনে পদার্থের ভর। সূত্র: ρ = m/V।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SI একক kg/m³; খাদ্য পরীক্ষাগারে g/cm³ বা kg/L-ও ব্যবহৃত হয়।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আপেক্ষিক ঘনত্ব (specific gravity) হলো নির্দিষ্ট তাপমাত্রায় পদার্থের ঘনত্ব ও রেফারেন্স পদার্থের ঘনত্বের অনুপাত।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ব্যবহার: দুধ, সিরাপ, তেল, ফলের রস ও দ্রবণের মান যাচাই।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পরিমাপের সময় তাপমাত্রা উল্লেখ করা জরুরি, কারণ তাপমাত্রা পরিবর্তনে আয়তন ও ঘনত্ব বদলাতে পারে।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উদাহরণ: ভর ২০০ g এবং আয়তন ২৫০ cm³ হলে ρ = ২০০/২৫০ = ০.৮ g/cm³।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28</a:t>
            </a:r>
          </a:p>
        </p:txBody>
      </p:sp>
      <p:pic>
        <p:nvPicPr>
          <p:cNvPr id="7" name="Picture – hydrometer" descr="হাইড্রোমিটা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000" y="1500000"/>
            <a:ext cx="2292105" cy="3350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৩.৬ সান্দ্রতা, প্রবাহ ও আর্দ্রতা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Viscosity, Flow and Humidity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সান্দ্রতা (Viscosity): প্রবাহের সময় তরলের অভ্যন্তরীণ প্রবাহ-প্রতিরোধ; মধু পানির তুলনায় বেশি সান্দ্র।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প্রবাহহার (Flow rate): একক সময়ে কোনো নির্দিষ্ট অংশ দিয়ে প্রবাহিত তরলের আয়তন বা ভর।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প্রবাহ মাপার যন্ত্র: rotameter, flow meter এবং উপযুক্ত ক্ষেত্রে volumetric/gravimetric method।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আর্দ্রতা (Humidity): বায়ুতে জলীয় বাষ্পের পরিমাণ; relative humidity সাধারণত শতাংশে প্রকাশ করা হয়।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শুকানো, গুদামজাতকরণ, বেকিং ও প্যাকেজিংয়ে সান্দ্রতা, প্রবাহ ও আর্দ্রতা গুরুত্বপূর্ণ।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প্রয়োগ: আর্দ্রতা নিয়ন্ত্রণ শুকনো খাদ্যের গুণমান ও সংরক্ষণে সহায়তা করে।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29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৩.৭ তাপমাত্রা পরিমাপক যন্ত্র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Temperature measuring instruments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Liquid-in-glass thermometer: তরলের প্রসারণের মাধ্যমে তাপমাত্রা নির্দেশ করে।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Digital thermometer: সেন্সর থেকে পাওয়া সংকেত ডিজিটাল মান হিসেবে দেখায়।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Thermocouple: দুটি ভিন্ন ধাতুর সংযোগে উৎপন্ন তাপ-বিদ্যুৎ বিভব ব্যবহার করে তাপমাত্রা মাপে।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RTD: তাপমাত্রার সঙ্গে ধাতব সেন্সরের বৈদ্যুতিক রোধ পরিবর্তনের ভিত্তিতে কাজ করে।</a:t>
            </a:r>
          </a:p>
          <a:p>
            <a:pPr>
              <a:spcAft>
                <a:spcPts val="500"/>
              </a:spcAft>
              <a:defRPr sz="17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প্রক্রিয়ায় পাস্তুরাইজেশন, রান্না, বেকিং, হিমায়ন ও কোল্ড-স্টোরেজে তাপমাত্রা পরিমাপ অপরিহার্য।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ব্যবহারিক: বরফ-জল মিশ্রণে উপযুক্ত থার্মোমিটারের রিডিং যাচাই করো—নির্দেশনা মেনে।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30</a:t>
            </a:r>
          </a:p>
        </p:txBody>
      </p:sp>
      <p:pic>
        <p:nvPicPr>
          <p:cNvPr id="7" name="Picture – thermometer" descr="থার্মোমিটা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000" y="1500000"/>
            <a:ext cx="2115789" cy="3350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৩.৮ তাপমাত্রার স্কেল ও রূপান্তর সূত্র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Celsius, Fahrenheit, Kelvin ও Rankine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সেলসিয়াস থেকে ফারেনহাইট: °F = (9/5 × °C) + 32।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ফারেনহাইট থেকে সেলসিয়াস: °C = (°F − 32) × 5/9।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সেলসিয়াস থেকে কেলভিন: K = °C + 273.15 (আনুমানিক হিসাবে +273)।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কেলভিন থেকে সেলসিয়াস: °C = K − 273.15।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Rankine: °R = °F + 459.67; আনুমানিক হিসাবে °F + 460।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পানির হিমাঙ্ক: 0°C = 32°F = 273.15 K; স্ফুটনাঙ্ক: 100°C = 212°F = 373.15 K (স্বাভাবিক চাপে)।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সমস্যা সমাধানে: প্রদত্ত একক শনাক্ত → সূত্র নির্বাচন → মান বসানো → এককসহ উত্তর।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31</a:t>
            </a:r>
          </a:p>
        </p:txBody>
      </p:sp>
      <p:pic>
        <p:nvPicPr>
          <p:cNvPr id="7" name="Picture – temp_scales" descr="তাপমাত্রার স্কে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000" y="1700000"/>
            <a:ext cx="2842105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৩.৯ তাপমাত্রা রূপান্তর — উদাহরণ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ধাপে ধাপে সমাধান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প্রশ্ন: ৫০°C কে °F-এ রূপান্তর করো।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সূত্র: °F = (9/5 × °C) + 32।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মান বসিয়ে: °F = (9/5 × 50) + 32 = 90 + 32।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উত্তর: ৫০°C = ১২২°F।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প্রশ্ন: 98.4°F কে °C-এ রূপান্তর করো।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°C = (98.4 − 32) × 5/9 = 66.4 × 5/9 ≈ 36.9°C।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প্র্যাকটিস: ২৫°C কে °F ও K-এ এবং ১০৪°F কে °C-এ রূপান্তর করো।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32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43769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৩.১০ অধ্যায় ৩ — অনুশীলনী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164592" rIns="164592" tIns="73152" bIns="36576"/>
          <a:lstStyle/>
          <a:p>
            <a:pPr>
              <a:spcAft>
                <a:spcPts val="700"/>
              </a:spcAft>
              <a:defRPr sz="1900" b="1">
                <a:solidFill>
                  <a:srgbClr val="0073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পরিমাপ ও পরিমাপক যন্ত্র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১. Direct ও indirect measurement-এর সংজ্ঞা ও উদাহরণ দাও।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২. তাপ ও তাপমাত্রার মধ্যে পার্থক্য লেখো।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৩. চাপ, ঘনত্ব, সান্দ্রতা, প্রবাহহার ও আর্দ্রতার সংজ্ঞা লেখো।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৪. তাপমাত্রা পরিমাপক চারটি যন্ত্রের নাম ও কাজ লেখো।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 ১৫০°C কে °F ও K-এ রূপান্তর করো।</a:t>
            </a:r>
          </a:p>
          <a:p>
            <a:pPr>
              <a:spcAft>
                <a:spcPts val="500"/>
              </a:spcAft>
              <a:defRPr sz="1600">
                <a:solidFill>
                  <a:srgbClr val="232D3C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৬. ২ kg ভরের একটি তরলের আয়তন ০.০০২ m³ হলে ঘনত্ব নির্ণয় করো।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5806440"/>
            <a:ext cx="10835640" cy="530352"/>
          </a:xfrm>
          <a:prstGeom prst="roundRect">
            <a:avLst/>
          </a:prstGeom>
          <a:solidFill>
            <a:srgbClr val="E8F4FA"/>
          </a:solidFill>
          <a:ln w="12700">
            <a:solidFill>
              <a:srgbClr val="41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/>
          <a:lstStyle/>
          <a:p>
            <a:pPr algn="ctr">
              <a:defRPr sz="1300" b="1">
                <a:solidFill>
                  <a:srgbClr val="14466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পরবর্তী ধাপ: প্রতিটি যন্ত্রের চিত্র, অংশ চিহ্নিতকরণ এবং ল্যাবভিত্তিক ব্যবহার যুক্ত করা হবে।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7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Food Engineering Fundamentals | বিষয় কোড: ২৬৯১১ | ফুড টেকনোলজি</a:t>
            </a:r>
          </a:p>
        </p:txBody>
      </p:sp>
      <p:sp>
        <p:nvSpPr>
          <p:cNvPr id="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34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৪.১ প্রসেস সিম্বল কী?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Process symbol ও flow diagram-এর ভিত্তি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৪  •  স্লাইড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প্রসেস সিম্বল হলো যন্ত্রপাতি বা অপারেশনকে সরল চিত্রে প্রকাশ করার প্রচলিত পদ্ধতি।</a:t>
            </a:r>
          </a:p>
          <a:p>
            <a:pPr>
              <a:spcAft>
                <a:spcPts val="1300"/>
              </a:spcAft>
              <a:defRPr sz="18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তীরচিহ্ন দিয়ে কাঁচামাল, পণ্য, বাষ্প, পানি বা বর্জ্যের প্রবাহের দিক দেখানো হয়।</a:t>
            </a:r>
          </a:p>
          <a:p>
            <a:pPr>
              <a:spcAft>
                <a:spcPts val="1300"/>
              </a:spcAft>
              <a:defRPr sz="18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একটি ডায়াগ্রামে ইনলেট, আউটলেট, প্রধান যন্ত্র এবং সহায়ক লাইন স্পষ্টভাবে দেখাতে হয়।</a:t>
            </a:r>
          </a:p>
          <a:p>
            <a:pPr>
              <a:spcAft>
                <a:spcPts val="1300"/>
              </a:spcAft>
              <a:defRPr sz="18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প্রতীক ব্যবহারে একই প্রকল্পের সব ডায়াগ্রামে সামঞ্জস্য বজায় রাখতে হবে।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5166360"/>
            <a:ext cx="2609088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কাঁচামাল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47615" y="5559552"/>
            <a:ext cx="164593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30496" y="5166360"/>
            <a:ext cx="2609088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প্রসেস ইউনিট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57872" y="555955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40752" y="5166360"/>
            <a:ext cx="2609088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পণ্য</a:t>
            </a:r>
          </a:p>
        </p:txBody>
      </p:sp>
      <p:sp>
        <p:nvSpPr>
          <p:cNvPr id="12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36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৫.১ ডিস্টিলেশন (Distillation)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তরল মিশ্রণের উপাদান পৃথকীকরণ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27048"/>
            <a:ext cx="4974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ব্যাচ ডিস্টিলেশন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47672"/>
            <a:ext cx="4974336" cy="120700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একটি নির্দিষ্ট পরিমাণ মিশ্রণ পাত্রে নিয়ে উত্তপ্ত করা হয়। বাষ্প ঘনীভূত করে সংগ্রহ করা হয়।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27048"/>
            <a:ext cx="49743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ধারাবাহিক ডিস্টিলেশন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47672"/>
            <a:ext cx="4974336" cy="120700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ফিড ধারাবাহিকভাবে প্রবেশ করে; পৃথকীকৃত পণ্য ধারাবাহিকভাবে বের হয়।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6052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ফিড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4972" y="4553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87852" y="416052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ডিস্টিলেশন কলাম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98464" y="4553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81344" y="416052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কনডেনসার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91956" y="4553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74836" y="416052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ডিস্টিলেট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1051560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ব্যবহার: সুগন্ধি উপাদান, দ্রাবক, তেল ও খাদ্য-প্রক্রিয়াজাত মিশ্রণের পৃথকীকরণ।</a:t>
            </a:r>
          </a:p>
        </p:txBody>
      </p:sp>
      <p:sp>
        <p:nvSpPr>
          <p:cNvPr id="20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56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৫.২ হিট এক্সচেঞ্জার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একটি তরল থেকে অন্য তরলে তাপ স্থানান্তর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2743200" cy="1051560"/>
          </a:xfrm>
          <a:prstGeom prst="roundRect">
            <a:avLst/>
          </a:prstGeom>
          <a:solidFill>
            <a:srgbClr val="E1EFFC"/>
          </a:solidFill>
          <a:ln w="22860"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শেল-টিউব</a:t>
            </a:r>
            <a:br/>
            <a:r>
              <a:rPr lang="bn-BD">
                <a:latin typeface="Kalpurush"/>
                <a:ea typeface="Kalpurush"/>
                <a:cs typeface="Kalpurush"/>
              </a:rPr>
              <a:t>হিট এক্সচেঞ্জার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828800"/>
            <a:ext cx="2743200" cy="1051560"/>
          </a:xfrm>
          <a:prstGeom prst="roundRect">
            <a:avLst/>
          </a:prstGeom>
          <a:solidFill>
            <a:srgbClr val="E7F6F4"/>
          </a:solidFill>
          <a:ln w="22860"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প্লেট</a:t>
            </a:r>
            <a:br/>
            <a:r>
              <a:rPr lang="bn-BD">
                <a:latin typeface="Kalpurush"/>
                <a:ea typeface="Kalpurush"/>
                <a:cs typeface="Kalpurush"/>
              </a:rPr>
              <a:t>হিট এক্সচেঞ্জার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2743200" cy="1051560"/>
          </a:xfrm>
          <a:prstGeom prst="roundRect">
            <a:avLst/>
          </a:prstGeom>
          <a:solidFill>
            <a:srgbClr val="FFF4E1"/>
          </a:solidFill>
          <a:ln w="22860"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ডাবল-পাইপ</a:t>
            </a:r>
            <a:br/>
            <a:r>
              <a:rPr lang="bn-BD">
                <a:latin typeface="Kalpurush"/>
                <a:ea typeface="Kalpurush"/>
                <a:cs typeface="Kalpurush"/>
              </a:rPr>
              <a:t>হিট এক্সচেঞ্জার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69848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শেল-টিউব: একাধিক টিউবের ভিতর দিয়ে একটি তরল, শেলের ভিতর দিয়ে অন্য তরল প্রবাহিত হয়।</a:t>
            </a:r>
          </a:p>
          <a:p>
            <a:pPr>
              <a:spcAft>
                <a:spcPts val="1300"/>
              </a:spcAft>
              <a:defRPr sz="16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প্লেট: পাতলা ধাতব প্লেটের দুই পাশে গরম ও ঠান্ডা তরল প্রবাহিত হয়।</a:t>
            </a:r>
          </a:p>
          <a:p>
            <a:pPr>
              <a:spcAft>
                <a:spcPts val="1300"/>
              </a:spcAft>
              <a:defRPr sz="16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ডাবল-পাইপ: একটি পাইপের ভিতরে আরেকটি পাইপ; ছোট ক্ষমতার কাজে উপযোগী।</a:t>
            </a:r>
          </a:p>
        </p:txBody>
      </p:sp>
      <p:sp>
        <p:nvSpPr>
          <p:cNvPr id="10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57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৫.৫ কঠিন পদার্থ শুকানো (Solid Drying)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আর্দ্রতা অপসারণের সাধারণ পদ্ধতি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ট্রে ড্রায়ার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47672"/>
            <a:ext cx="3236976" cy="157276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ট্রেতে খাদ্য সাজিয়ে গরম বায়ু চালানো হয়। ছোট/মাঝারি ব্যাচে উপযোগী।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রোটারি ড্রায়ার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47672"/>
            <a:ext cx="3236976" cy="157276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ঘূর্ণায়মান সিলিন্ডারে পদার্থ নড়াচড়া করে এবং গরম গ্যাসের সংস্পর্শে শুকায়।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C89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ফ্লুইড-বেড ড্রায়ার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947672"/>
            <a:ext cx="3236976" cy="157276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উর্ধ্বমুখী বায়ু কণাকে ভাসমান অবস্থায় রাখে; তাপ ও ভর স্থানান্তর দ্রুত হয়।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1069848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প্রক্রিয়া: ভেজা ফিড → তাপ ও বায়ুর সংস্পর্শ → জলীয় বাষ্প অপসারণ → শুকনো পণ্য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960"/>
            <a:ext cx="106984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নিয়ন্ত্রণের বিষয়: তাপমাত্রা, বায়ুপ্রবাহ, সময়, কণার আকার ও চূড়ান্ত আর্দ্রতা।</a:t>
            </a:r>
          </a:p>
        </p:txBody>
      </p:sp>
      <p:sp>
        <p:nvSpPr>
          <p:cNvPr id="17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৫.৬ বাষ্পীভবন (Evaporation)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দ্রবণ থেকে দ্রাবকের অংশ অপসারণ করে ঘনত্ব বৃদ্ধি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488289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ওপেন-প্যান ইভাপোরেটর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47672"/>
            <a:ext cx="4882896" cy="12984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খোলা পাত্রে উত্তাপ দিয়ে পানি বাষ্পীভূত করা হয়। গঠন সহজ; তবে তাপ ও বাষ্পের ক্ষতি বেশি হতে পারে।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27048"/>
            <a:ext cx="488289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মাল্টিপল-ইফেক্ট ইভাপোরেটর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47672"/>
            <a:ext cx="4882896" cy="12984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এক ধাপের বাষ্প পরবর্তী ধাপে তাপ হিসেবে কাজে লাগিয়ে শক্তি সাশ্রয় করা হয়।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6052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পাতলা দ্রবণ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4972" y="4553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87852" y="416052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উত্তাপ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98464" y="4553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81344" y="416052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বাষ্প অপসারণ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91956" y="4553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74836" y="416052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ঘন দ্রবণ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খাদ্য উদাহরণ: দুধ ঘন করা, ফলের রস কনসেনট্রেট ও সিরাপ প্রস্তুত।</a:t>
            </a:r>
          </a:p>
        </p:txBody>
      </p:sp>
      <p:sp>
        <p:nvSpPr>
          <p:cNvPr id="20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61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৫.৭ এক্সট্রাকশন (Extraction)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দ্রাবকের সাহায্যে কাঙ্ক্ষিত উপাদান বের করা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কাঁচামাল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4972" y="222199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7852" y="182880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দ্রাবকের সংস্পর্শ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98464" y="222199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81344" y="182880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মিশ্রণ/ধারণ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91956" y="222199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74836" y="182880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নিষ্কাশিত দ্রবণ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1069848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কঠিন-তরল এক্সট্রাকশনে কঠিন কাঁচামাল থেকে দ্রবণীয় উপাদান দ্রাবকে নেওয়া হয়।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তরল-তরল এক্সট্রাকশনে দুইটি আংশিক অমিশ্রণীয় তরলের মধ্যে উপাদান বণ্টিত হয়।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দ্রাবক নির্বাচন, তাপমাত্রা, কণার আকার ও সংস্পর্শের সময় ফলাফলে প্রভাব ফেলে।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ব্যবহার: চা/কফির নির্যাস, উদ্ভিজ্জ তেল এবং খাদ্য-সুগন্ধি উপাদান নিষ্কাশন।</a:t>
            </a:r>
          </a:p>
        </p:txBody>
      </p:sp>
      <p:sp>
        <p:nvSpPr>
          <p:cNvPr id="14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৫.৯ ফ্লুইড হ্যান্ডলিং (Fluid Handling)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পাম্প, পাইপ, ভালভ ও প্রবাহ নিয়ন্ত্রণ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সেন্ট্রিফিউগাল পাম্প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47672"/>
            <a:ext cx="3236976" cy="143560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ইমপেলারের ঘূর্ণনে তরলে বেগ সৃষ্টি হয়; ধারাবাহিক তরল পরিবহনে বহুল ব্যবহৃত।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পাইপ ও ফিটিং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47672"/>
            <a:ext cx="3236976" cy="143560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প্রসেস ইউনিটের মধ্যে তরল/গ্যাস পরিবহন করে। ব্যাস, দৈর্ঘ্য ও ঘর্ষণ বিবেচ্য।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566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C89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ভালভ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947672"/>
            <a:ext cx="3236976" cy="143560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প্রবাহ চালু-বন্ধ, প্রবাহের পরিমাণ নিয়ন্ত্রণ বা একমুখী প্রবাহ নিশ্চিত করে।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16052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ট্যাংক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4972" y="4553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87852" y="416052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পাম্প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98464" y="4553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1344" y="416052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কন্ট্রোল ভালভ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91956" y="4553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74836" y="416052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প্রসেস ইউনিট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পাম্প বাছাইয়ে প্রবাহহার, মোট হেড, তরলের বৈশিষ্ট্য ও ক্যাভিটেশন ঝুঁকি বিবেচনা করতে হয়।</a:t>
            </a:r>
          </a:p>
        </p:txBody>
      </p:sp>
      <p:sp>
        <p:nvSpPr>
          <p:cNvPr id="23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64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৫.১৭ সেন্ট্রিফিউজ ও সেটলিং ট্যাংক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দুইটি পৃথকীকরণ পদ্ধতির তুলনা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72768"/>
            <a:ext cx="488289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সেন্ট্রিফিউজ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93392"/>
            <a:ext cx="4882896" cy="170992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দ্রুত ঘূর্ণন কেন্দ্রাতিগ বল তৈরি করে। সূক্ষ্ম কণা বা ইমালশন পৃথক করতে সহায়ক; শক্তি খরচ তুলনামূলক বেশি।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72768"/>
            <a:ext cx="488289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সেটলিং ট্যাংক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93392"/>
            <a:ext cx="4882896" cy="170992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কম বেগে প্রবাহ রেখে মাধ্যাকর্ষণে কণা বসতে দেওয়া হয়। নকশায় ধারণকাল ও ট্যাংকের ক্ষেত্রফল গুরুত্বপূর্ণ।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1051560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নির্বাচন: কণার আকার, ঘনত্বের পার্থক্য, সান্দ্রতা, প্রয়োজনীয় বিশুদ্ধতা ও উৎপাদন ক্ষমতা।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72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৫.১৯ গ্যাস পরিষ্কারক যন্ত্র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Dust / mist / gas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74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ওয়েট স্ক্রাবার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47672"/>
            <a:ext cx="3236976" cy="157276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গ্যাসকে তরল স্প্রে বা তরল স্তরের সংস্পর্শে এনে ধূলিকণা/কিছু দূষক অপসারণ করে।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সাইক্লোন সেপারেটর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47672"/>
            <a:ext cx="3236976" cy="157276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ঘূর্ণায়মান প্রবাহের কেন্দ্রাতিগ প্রভাব ব্যবহার করে গ্যাস থেকে তুলনামূলক বড় কণা আলাদা করে।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5661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C89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ইলেক্ট্রোস্ট্যাটিক প্রিসিপিটেটর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947672"/>
            <a:ext cx="3236976" cy="157276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চার্জযুক্ত কণা সংগ্রাহক প্লেটে জমা হয়; সূক্ষ্ম কণার জন্য কার্যকর।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প্রধান তুলনা: অপসারণ দক্ষতা, চাপপতন, পানি/শক্তির চাহিদা, রক্ষণাবেক্ষণ ও বর্জ্য ব্যবস্থাপনা।</a:t>
            </a:r>
          </a:p>
        </p:txBody>
      </p:sp>
      <p:sp>
        <p:nvSpPr>
          <p:cNvPr id="1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74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৫.২০ ফিল্টার প্রেস (Filter Press)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চাপ প্রয়োগ করে স্লারি থেকে কঠিন-তরল পৃথকীকরণ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75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স্লারি ফিড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4972" y="235915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7852" y="196596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ফিল্টার প্লেট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98464" y="235915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81344" y="196596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কেক গঠন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91956" y="235915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74836" y="196596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ফিল্ট্রেট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1069848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ফিল্টার কাপড়/মাধ্যম কঠিন কণা আটকে দেয় এবং তরল বের হতে দেয়।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কেক জমার সঙ্গে সঙ্গে প্রবাহ প্রতিরোধ বাড়ে; চাপ ও সাইকেল সময় গুরুত্বপূর্ণ।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ব্যবহার: খাদ্য সাসপেনশন, রস/সিরাপ পরিশোধন এবং বর্জ্য স্লাজ ডিওয়াটারিং।</a:t>
            </a:r>
          </a:p>
        </p:txBody>
      </p:sp>
      <p:sp>
        <p:nvSpPr>
          <p:cNvPr id="14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75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৫.২১ অন্যান্য প্রসেস ইউনিট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ক্রিস্টালাইজার, থিকনার ও রোটারি ফিল্টার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76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ক্রিস্টালাইজার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47672"/>
            <a:ext cx="3236976" cy="166420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দ্রবণকে শীতল বা ঘনীভূত করে নিয়ন্ত্রিতভাবে স্ফটিক তৈরি করা হয়।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থিকনার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47672"/>
            <a:ext cx="3236976" cy="166420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সাসপেনশন থেকে কঠিন কণাকে বসিয়ে ঘন স্লারি এবং অপেক্ষাকৃত পরিষ্কার তরল তৈরি করে।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527048"/>
            <a:ext cx="323697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C89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রোটারি ভ্যাকুয়াম ফিল্টার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947672"/>
            <a:ext cx="3236976" cy="166420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ঘূর্ণায়মান ড্রামের মাধ্যমে ধারাবাহিকভাবে ফিল্টার কেক তৈরি ও অপসারণ করা হয়।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নকশার মূল বিবেচনা: কণার বৈশিষ্ট্য, স্লারির সান্দ্রতা, উৎপাদন হার ও পরিষ্কার করার সুবিধা।</a:t>
            </a:r>
          </a:p>
        </p:txBody>
      </p:sp>
      <p:sp>
        <p:nvSpPr>
          <p:cNvPr id="1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76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৫.১৩ সলিড হ্যান্ডলিং ও কনভেয়ার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কঠিন কাঁচামাল ও পণ্য স্থানান্তর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68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27048"/>
            <a:ext cx="31455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বেল্ট কনভেয়ার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47672"/>
            <a:ext cx="3145536" cy="148132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প্যাকেট, ফল, শস্য বা অন্যান্য কঠিন পদার্থকে ধারাবাহিকভাবে স্থানান্তর করে।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27048"/>
            <a:ext cx="31455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67B4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স্ক্রু কনভেয়ার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47672"/>
            <a:ext cx="3145536" cy="148132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ঘূর্ণায়মান স্ক্রুর মাধ্যমে গুঁড়া/দানাদার পদার্থ বন্ধ নালির ভিতর এগিয়ে যায়।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27048"/>
            <a:ext cx="3145536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C899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বাকেট এলিভেটর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47672"/>
            <a:ext cx="3145536" cy="148132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শস্য বা দানাদার পদার্থকে উল্লম্বভাবে উপরে তোলে।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1069848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প্রয়োজনীয় ক্ষমতা, দূরত্ব, উচ্চতা, আর্দ্রতা ও ভঙ্গুরতা অনুযায়ী কনভেয়ার নির্বাচন করতে হয়।</a:t>
            </a:r>
          </a:p>
        </p:txBody>
      </p:sp>
      <p:sp>
        <p:nvSpPr>
          <p:cNvPr id="16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৪.১৪ প্রসেস ফ্লো ডায়াগ্রাম পড়ার নিয়ম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চিত্র বিশ্লেষণের ধাপ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৪  •  স্লাইড 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১. ফিড কোথা থেকে ঢুকছে এবং পণ্য/বর্জ্য কোথায় বের হচ্ছে তা চিহ্নিত করুন।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২. তীরচিহ্ন দেখে প্রবাহের দিক অনুসরণ করুন।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৩. প্রতিটি ইউনিটের কাজ লিখুন—উত্তাপ, শীতলীকরণ, পৃথকীকরণ, শুকানো বা পরিবহন।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৪. সহায়ক লাইন (পানি, বাষ্প, গরম/ঠান্ডা মাধ্যম) মূল ফিড লাইনের সঙ্গে গুলিয়ে ফেলবেন না।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৫. প্রতীক বই বা প্রতিষ্ঠানের নির্ধারিত legend-এর সঙ্গে মিলিয়ে নিন।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30352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ফিড প্রস্তুতি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4972" y="5696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7852" y="530352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প্রসেসিং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98464" y="5696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81344" y="5303520"/>
            <a:ext cx="2592324" cy="777240"/>
          </a:xfrm>
          <a:prstGeom prst="roundRect">
            <a:avLst/>
          </a:prstGeom>
          <a:solidFill>
            <a:srgbClr val="E1EFFC"/>
          </a:solidFill>
          <a:ln>
            <a:solidFill>
              <a:srgbClr val="23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পৃথকীকরণ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91956" y="5696712"/>
            <a:ext cx="164592" cy="0"/>
          </a:xfrm>
          <a:prstGeom prst="line">
            <a:avLst/>
          </a:prstGeom>
          <a:ln w="25400">
            <a:solidFill>
              <a:srgbClr val="23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74836" y="5303520"/>
            <a:ext cx="2592324" cy="777240"/>
          </a:xfrm>
          <a:prstGeom prst="roundRect">
            <a:avLst/>
          </a:prstGeom>
          <a:solidFill>
            <a:srgbClr val="E7F6F4"/>
          </a:solidFill>
          <a:ln>
            <a:solidFill>
              <a:srgbClr val="1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প্যাকেজিং</a:t>
            </a:r>
          </a:p>
        </p:txBody>
      </p:sp>
      <p:sp>
        <p:nvSpPr>
          <p:cNvPr id="14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49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দ্রুত পুনরালোচনা — অধ্যায় 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পরীক্ষার প্রস্তুতির জন্য গুরুত্বপূর্ণ পয়েন্ট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Distillation: স্ফুটনাঙ্ক/উদ্বায়িততার পার্থক্য কাজে লাগে।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Drying: তাপ ও ভর স্থানান্তরের মাধ্যমে আর্দ্রতা কমানো হয়।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Evaporation: দ্রাবক অপসারণ করে দ্রবণ ঘন করা হয়।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Extraction: দ্রাবকের সাহায্যে কাঙ্ক্ষিত উপাদান বের করা হয়।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Filtration / Centrifugation / Sedimentation: কঠিন-তরল পৃথকীকরণের ভিন্ন পদ্ধতি।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Cyclone / Scrubber / ESP: গ্যাস পরিষ্কারের পৃথক নীতি।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3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B52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অনুশীলনী — অধ্যায় ৫ (ক)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নিজে উত্তর লেখার চেষ্টা করুন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F6B7A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ফুড ইঞ্জিনিয়ারিং ফান্ডামেন্টালস  •  অধ্যায় ৫  •  স্লাইড 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389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১. Process symbol ও process flow diagram-এর কাজ কী?</a:t>
            </a:r>
          </a:p>
          <a:p>
            <a:pPr>
              <a:spcAft>
                <a:spcPts val="1300"/>
              </a:spcAft>
              <a:defRPr sz="16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২. ব্যাচ ও ধারাবাহিক ডিস্টিলেশনের মধ্যে পার্থক্য লেখ।</a:t>
            </a:r>
          </a:p>
          <a:p>
            <a:pPr>
              <a:spcAft>
                <a:spcPts val="1300"/>
              </a:spcAft>
              <a:defRPr sz="16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৩. ট্রে ড্রায়ার, রোটারি ড্রায়ার ও ফ্লুইড-বেড ড্রায়ারের তুলনা কর।</a:t>
            </a:r>
          </a:p>
          <a:p>
            <a:pPr>
              <a:spcAft>
                <a:spcPts val="1300"/>
              </a:spcAft>
              <a:defRPr sz="16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৪. ওপেন-প্যান ও মাল্টিপল-ইফেক্ট ইভাপোরেটরের পার্থক্য লেখ।</a:t>
            </a:r>
          </a:p>
          <a:p>
            <a:pPr>
              <a:spcAft>
                <a:spcPts val="1300"/>
              </a:spcAft>
              <a:defRPr sz="16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৫. সেন্ট্রিফিউজ, ফিল্টার প্রেস ও সাইক্লোন সেপারেটরের কার্যনীতি ব্যাখ্যা কর।</a:t>
            </a:r>
          </a:p>
          <a:p>
            <a:pPr>
              <a:spcAft>
                <a:spcPts val="1300"/>
              </a:spcAft>
              <a:defRPr sz="1600">
                <a:solidFill>
                  <a:srgbClr val="283241"/>
                </a:solidFill>
                <a:latin typeface="Kalpurush"/>
                <a:ea typeface="Kalpurush"/>
                <a:cs typeface="Kalpurush"/>
              </a:defRPr>
            </a:pPr>
            <a:r>
              <a:rPr lang="bn-BD">
                <a:latin typeface="Kalpurush"/>
                <a:ea typeface="Kalpurush"/>
                <a:cs typeface="Kalpurush"/>
              </a:rPr>
              <a:t>• ৬. ফুড প্রসেসিং প্ল্যান্টে পাম্প, ভালভ ও কনভেয়ারের ভূমিকা কী?</a:t>
            </a:r>
          </a:p>
        </p:txBody>
      </p:sp>
      <p:sp>
        <p:nvSpPr>
          <p:cNvPr id="7" name="Page Number"/>
          <p:cNvSpPr txBox="1"/>
          <p:nvPr/>
        </p:nvSpPr>
        <p:spPr>
          <a:xfrm>
            <a:off x="10900000" y="6500000"/>
            <a:ext cx="720000" cy="23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B7C8F"/>
                </a:solidFill>
                <a:latin typeface="Kalpurush"/>
                <a:ea typeface="Kalpurush"/>
                <a:cs typeface="Kalpurush"/>
              </a:rPr>
              <a:t>78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৫.৮ গ্যাস–তরল সংযোগ (Gas–Liquid Contacting)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দুইটি পর্যায়ের মধ্যে কোনো উপাদানের স্থানান্তর ঘটানোর জন্য গ্যাস ও তরলকে সংস্পর্শে আনা হয়।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5303520" cy="35204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73152" cy="352044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84248"/>
            <a:ext cx="502920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Absorption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77439"/>
            <a:ext cx="5029200" cy="29535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গ্যাসের দ্রবণীয় উপাদান তরল দ্রাবকে শোষিত হয়।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উদাহরণ: গ্যাস থেকে নির্দিষ্ট উপাদান অপসারণ।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303520" cy="35204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73152" cy="352044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84248"/>
            <a:ext cx="502920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Stripping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77439"/>
            <a:ext cx="5029200" cy="29535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তরলে দ্রবীভূত উদ্বায়ী উপাদান গ্যাস প্রবাহ দিয়ে বের করা হয়।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উদাহরণ: দ্রবণ থেকে গ্যাস অপসারণ।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44959"/>
            <a:ext cx="207751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618111"/>
            <a:ext cx="198607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গ্যাস + দ্রাবক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31312" y="5874143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63900" y="5544959"/>
            <a:ext cx="2077516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9620" y="5618111"/>
            <a:ext cx="198607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Absorber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55133" y="5874143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87721" y="5544959"/>
            <a:ext cx="207751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3441" y="5618111"/>
            <a:ext cx="198607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সমৃদ্ধ দ্রবণ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78954" y="5874143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11542" y="5544959"/>
            <a:ext cx="2077516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7262" y="5618111"/>
            <a:ext cx="198607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Stripper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02775" y="5874143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35363" y="5544959"/>
            <a:ext cx="207751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1083" y="5618111"/>
            <a:ext cx="198607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পুনরুদ্ধার দ্রাবক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৫.৩ তাপ বিনিময় যন্ত্র (Heat Exchange Equipment)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একটি তরল বা গ্যাস থেকে অন্য প্রবাহে সরাসরি মিশ্রণ ছাড়াই তাপ স্থানান্তর করা হয়।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169164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Fire-tube / Fired heater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টিউবের মাধ্যমে গরম গ্যাস বা জ্বালানি থেকে প্রক্রিয়া প্রবাহে তাপ দেওয়া হয়।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169164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Condenser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3172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বাষ্প থেকে তাপ অপসারণ করে তরলে রূপান্তর করে।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0332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73152" cy="169164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81304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Shell-and-tube exchanger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20624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শেল ও টিউবের পৃথক প্রবাহের মধ্যে তাপ বিনিময় হয়; শিল্পে বহুল ব্যবহৃত।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73152" cy="1691640"/>
          </a:xfrm>
          <a:prstGeom prst="rect">
            <a:avLst/>
          </a:prstGeom>
          <a:solidFill>
            <a:srgbClr val="2A8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81304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Re-boiler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20624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Distillation tower-এর তরলকে পুনরায় গরম করে বাষ্প তৈরি করে।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৫.৪ Jacketed Kettle ও Heat Exchanger নির্বাচন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প্রক্রিয়ার তাপমাত্রা, প্রবাহের ধরন, পরিচ্ছন্নতা, চাপ এবং উৎপাদন ক্ষমতা দেখে যন্ত্র নির্বাচন করতে হয়।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5303520" cy="35204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73152" cy="352044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84248"/>
            <a:ext cx="502920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Jacketed kettle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77439"/>
            <a:ext cx="5029200" cy="29535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পাত্রের বাইরের jacket দিয়ে বাষ্প/গরম পানি চালিয়ে পণ্য গরম করা হয়।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প্রয়োগ: সস, জ্যাম, সিরাপ।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303520" cy="35204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73152" cy="352044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84248"/>
            <a:ext cx="502920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নির্বাচনের বিষয়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77439"/>
            <a:ext cx="5029200" cy="29535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• প্রয়োজনীয় তাপমাত্রা ও তাপের পরিমাণ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• পণ্যের সান্দ্রতা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• পরিষ্কার করার সুবিধা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• উপাদানের খাদ্য-নিরাপত্তা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৫.১০ তরল সংরক্ষণ, সিল ও Floating 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তরল সংরক্ষণে ট্যাংকের নকশা, বাষ্পীভবন, দূষণ প্রতিরোধ এবং নিরাপদ সিল গুরুত্বপূর্ণ।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384048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Fluid storage tank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পানি, তেল, সিরাপ বা তরল কাঁচামাল সংরক্ষণে ব্যবহৃত হয়।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ভিতরে উপযুক্ত খাদ্য-গ্রেড উপাদান থাকতে হবে।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73152" cy="384048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Seal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জোড় বা ঘূর্ণায়মান অংশের ফাঁক দিয়ে তরল/গ্যাস লিক হওয়া কমায়।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828800"/>
            <a:ext cx="73152" cy="384048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Floating 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ট্যাংকের তরল পৃষ্ঠের সঙ্গে ছাদ ওঠানামা করে; বাষ্পক্ষয় কমাতে সহায়তা করে।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৫.১১ মিশ্রণ (Mixing) ও Agitation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মিশ্রণের উদ্দেশ্য হলো উপাদানগুলোকে সমভাবে বণ্টন করা; agitation হলো তরল বা slurry-তে নড়াচড়া সৃষ্টি করা।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362120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Direct mixing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দুই বা ততোধিক উপাদান সরাসরি একত্র করে মেশানো হয়।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উদাহরণ: ময়দা ও শুকনো উপাদান।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73152" cy="362120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Agitation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ইম্পেলার/ব্লেড ঘুরিয়ে তরলে সঞ্চালন তৈরি করা হয়।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উদাহরণ: দুধ, সিরাপ, সস।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828800"/>
            <a:ext cx="73152" cy="362120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Solids blending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শুষ্ক কণা ঘুরিয়ে বা উল্টেপাল্টে সমভাবে মেশানো হয়।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উদাহরণ: মশলার গুঁড়া।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00000"/>
            <a:ext cx="2040940" cy="594360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73152"/>
            <a:ext cx="1949500" cy="48463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উপাদান মাপা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86176" y="5897180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918764" y="5600000"/>
            <a:ext cx="2040940" cy="594360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4484" y="5673152"/>
            <a:ext cx="1949500" cy="48463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Pre-mixing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73421" y="5897180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06009" y="5600000"/>
            <a:ext cx="2040940" cy="594360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51729" y="5673152"/>
            <a:ext cx="1949500" cy="48463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Mixing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60666" y="5897180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93254" y="5600000"/>
            <a:ext cx="2040940" cy="594360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8974" y="5673152"/>
            <a:ext cx="1949500" cy="48463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গুণমান পরীক্ষা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47911" y="5897180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80499" y="5600000"/>
            <a:ext cx="2040940" cy="594360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6219" y="5673152"/>
            <a:ext cx="1949500" cy="48463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পরবর্তী ধাপ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৫.১২ Size Reduction: Crushing, Grinding ও Pulverizing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কঠিন খাদ্য উপাদানের আকার ছোট করে পৃষ্ঠতল বাড়ানো, মিশ্রণ সহজ করা ও পরবর্তী প্রক্রিয়া উন্নত করা হয়।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384048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Crushing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বড় টুকরাকে চাপ/আঘাতে ছোট টুকরায় ভাঙা।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উদাহরণ: শস্য বা শুকনো উপাদান ভাঙা।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73152" cy="384048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Grinding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ঘর্ষণ/চাপ দিয়ে মাঝারি আকারের কণা তৈরি।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উদাহরণ: মসলা, শস্য।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828800"/>
            <a:ext cx="73152" cy="384048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Pulverizing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অতি সূক্ষ্ম গুঁড়া তৈরি করা।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উদাহরণ: চিনি বা শুকনো খাদ্য উপাদান।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৫.১৪ Pelletizing ও Solids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কণাকে নির্দিষ্ট আকৃতি দেওয়া এবং কঠিন পদার্থকে এক স্থান থেকে অন্য স্থানে সরানো এই অংশের মূল কাজ।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169164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Pelletizing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গুঁড়া/ক্ষুদ্র কণাকে চাপ বা binder দিয়ে ছোট pellet-এ রূপান্তর করা।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169164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Pneumatic conveying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3172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বায়ুপ্রবাহের সাহায্যে পাইপের মধ্যে গুঁড়া বা দানা পরিবহন করা হয়।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0332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73152" cy="169164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81304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Bucket elevator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20624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বালতি/কাপের সাহায্যে শস্য বা দানা উল্লম্বভাবে উপরে তোলে।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73152" cy="1691640"/>
          </a:xfrm>
          <a:prstGeom prst="rect">
            <a:avLst/>
          </a:prstGeom>
          <a:solidFill>
            <a:srgbClr val="2A8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81304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Screw conveyor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20624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ঘূর্ণায়মান helical screw দিয়ে গুঁড়া বা আঠালো পদার্থ সরায়।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৫.১৫ Belt Conveyor ও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উৎপাদন লাইনে উপাদান পরিবহন এবং কণার আকার অনুযায়ী পৃথকীকরণে এই যন্ত্রগুলো ব্যবহৃত হয়।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5303520" cy="35204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73152" cy="352044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984248"/>
            <a:ext cx="502920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Belt conveyor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77439"/>
            <a:ext cx="5029200" cy="29535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চলন্ত বেল্টে পণ্যকে অনুভূমিক বা ঢালু পথে পরিবহন করা হয়।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প্রয়োগ: প্যাকেজিং লাইনে।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303520" cy="35204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74519"/>
            <a:ext cx="73152" cy="352044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84248"/>
            <a:ext cx="502920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77439"/>
            <a:ext cx="5029200" cy="29535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জাল/ছাঁকনির ছিদ্রের তুলনায় ছোট কণা নিচে পড়ে, বড় কণা উপরে থাকে।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544959"/>
            <a:ext cx="2473452" cy="685800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18111"/>
            <a:ext cx="2382012" cy="57607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Feed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01568" y="5887859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534156" y="5544959"/>
            <a:ext cx="2473452" cy="685800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9876" y="5618111"/>
            <a:ext cx="2382012" cy="57607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Screen / Sieve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21324" y="5887859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53912" y="5544959"/>
            <a:ext cx="2473452" cy="685800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5618111"/>
            <a:ext cx="2382012" cy="57607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Oversize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41080" y="5887859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73668" y="5544959"/>
            <a:ext cx="2473452" cy="685800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9388" y="5618111"/>
            <a:ext cx="2382012" cy="57607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Undersize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৫.১৬ Solid–Solid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ভৌত বৈশিষ্ট্য—আকার, ঘনত্ব, চৌম্বক ধর্ম বা পৃষ্ঠের আচরণ—ব্যবহার করে কঠিন মিশ্রণ পৃথক করা হয়।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169164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Elutriation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নিয়ন্ত্রিত তরল/গ্যাস প্রবাহে হালকা বা সূক্ষ্ম কণা আলাদা করা হয়।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169164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Froth flotation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3172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বুদবুদের সঙ্গে যুক্ত কণা ফেনায় ভেসে ওঠে; অন্য কণা নিচে থাকে।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0332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73152" cy="169164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81304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Jigging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20624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পালসেটিং তরল প্রবাহে ঘনত্বের পার্থক্য অনুযায়ী কণা স্তরবিন্যাস হয়।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73152" cy="1691640"/>
          </a:xfrm>
          <a:prstGeom prst="rect">
            <a:avLst/>
          </a:prstGeom>
          <a:solidFill>
            <a:srgbClr val="2A8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81304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Magnetic separator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20624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চৌম্বকীয় কণা চুম্বকের মাধ্যমে অচৌম্বকীয় কণা থেকে পৃথক হয়।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৫.১৮ Fluid–Solid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তরল বা গ্যাসের মধ্যে থাকা কঠিন কণা অপসারণের জন্য filtration, centrifugation ও settling ব্যবহৃত হয়।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384048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Filtration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ফিল্টার মাধ্যম তরল/গ্যাস পার হতে দেয়, কিন্তু কঠিন কণা আটকে রাখে।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73152" cy="384048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Centrifugation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ঘূর্ণনের ফলে ঘনত্বের পার্থক্য কাজে লাগিয়ে উপাদান পৃথক করা হয়।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828800"/>
            <a:ext cx="73152" cy="384048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Settling tank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মাধ্যাকর্ষণে ভারী কণা নিচে বসে; ওপরের পরিষ্কার তরল আলাদা করা যায়।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৪.১৫ Biscuit Manufacturing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বিস্কুট উৎপাদনে উপাদান প্রস্তুতি থেকে প্যাকেজিং পর্যন্ত ধাপগুলো ধারাবাহিকভাবে নিয়ন্ত্রণ করা হয়।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169164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Pre-mixing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ময়দা, চিনি, ফ্যাট, দুধ/পানি ও প্রয়োজনীয় additive প্রস্তুত ও মাপা।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169164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Mixing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3172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নির্দিষ্ট সময় মিশিয়ে কাঙ্ক্ষিত dough consistency তৈরি।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0332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73152" cy="169164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81304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Forming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20624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Sheeting, gauging, cutting বা moulding দিয়ে আকৃতি দেওয়া।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440680" cy="169164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73152" cy="1691640"/>
          </a:xfrm>
          <a:prstGeom prst="rect">
            <a:avLst/>
          </a:prstGeom>
          <a:solidFill>
            <a:srgbClr val="2A8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813048"/>
            <a:ext cx="51663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Baking → Cooling → Packing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206240"/>
            <a:ext cx="5166360" cy="11247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ওভেনে বেকিং; নিয়ন্ত্রিতভাবে ঠান্ডা করা; metal detection ও প্যাকেজিং।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44960"/>
            <a:ext cx="1744980" cy="685800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18112"/>
            <a:ext cx="1653539" cy="57607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Pre-mix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61616" y="5887860"/>
            <a:ext cx="118871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394204" y="5544960"/>
            <a:ext cx="1744980" cy="685800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39923" y="5618112"/>
            <a:ext cx="1653539" cy="57607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Mixing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52899" y="5887860"/>
            <a:ext cx="118873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85488" y="5544960"/>
            <a:ext cx="1744980" cy="685800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1208" y="5618112"/>
            <a:ext cx="1653539" cy="57607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Forming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44183" y="5887860"/>
            <a:ext cx="118873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76772" y="5544960"/>
            <a:ext cx="1744980" cy="685800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2492" y="5618112"/>
            <a:ext cx="1653539" cy="57607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Baking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35468" y="5887860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068056" y="5544960"/>
            <a:ext cx="1744980" cy="685800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3776" y="5618112"/>
            <a:ext cx="1653539" cy="57607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Cooling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26752" y="5887860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959340" y="5544960"/>
            <a:ext cx="1744980" cy="685800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05060" y="5618112"/>
            <a:ext cx="1653539" cy="57607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Packaging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৪.১৬ Rusk Manufacturing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রস্ক সাধারণত প্রথমে dough তৈরি ও বেক করা হয়, এরপর slicing এবং দ্বিতীয়বার বেকিং/শুকানোর মাধ্যমে তৈরি হয়।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362120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প্রথম ধাপ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উপাদান মাপা → মিশ্রণ → dough তৈরি → প্রথম baking।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73152" cy="362120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মধ্যবর্তী ধাপ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ঠান্ডা করা → সমান স্লাইস করা → স্লাইস সাজানো।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828800"/>
            <a:ext cx="73152" cy="362120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শেষ ধাপ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দ্বিতীয় baking/drying → cooling → packaging।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লক্ষ্য: কম আর্দ্রতা ও মচমচে গঠন।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00000"/>
            <a:ext cx="1744980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73152"/>
            <a:ext cx="1653539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Mixing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61616" y="5929184"/>
            <a:ext cx="118871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394204" y="5600000"/>
            <a:ext cx="1744980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9923" y="5673152"/>
            <a:ext cx="1653539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First baking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52899" y="5929184"/>
            <a:ext cx="118873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85488" y="5600000"/>
            <a:ext cx="1744980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1208" y="5673152"/>
            <a:ext cx="1653539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Cooling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44183" y="5929184"/>
            <a:ext cx="118873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76772" y="5600000"/>
            <a:ext cx="1744980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2492" y="5673152"/>
            <a:ext cx="1653539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Slicing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35468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68056" y="5600000"/>
            <a:ext cx="1744980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3776" y="5673152"/>
            <a:ext cx="1653539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Second baking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26752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959340" y="5600000"/>
            <a:ext cx="1744980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05060" y="5673152"/>
            <a:ext cx="1653539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Cooling &amp; packing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৪.১৭ Ice Cream Manufacturing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আইসক্রিমে মিশ্রণ প্রস্তুতি, homogenization, pasteurization, ageing, freezing এবং প্যাকেজিং গুরুত্বপূর্ণ ধাপ।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362120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Mix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দুধ/ক্রিম, চিনি, stabilizer ও flavour নির্দিষ্ট অনুপাতে মেশানো।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73152" cy="362120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Heat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Homogenization ও pasteurization করে গঠন ও নিরাপত্তা উন্নত করা।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828800"/>
            <a:ext cx="73152" cy="362120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Freezing &amp;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Ageing-এর পর air incorporation-সহ freezing; দ্রুত hardening ও frozen storage।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Mixing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91432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124020" y="5600000"/>
            <a:ext cx="1474796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69740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Homogenization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12533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745121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0841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Pasteurization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33633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366221" y="5600000"/>
            <a:ext cx="1474796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1941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Cooling / Ageing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4734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87322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33042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Freezing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75834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608422" y="5600000"/>
            <a:ext cx="1474796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4142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Packing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96935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229523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75243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Hardening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৪.১৮ Potato Chips Manufacturing Flow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আলুর চিপস উৎপাদনে কাঁচামাল বাছাই, ধোয়া, খোসা ছাড়ানো, slicing, frying এবং seasoning নিয়ন্ত্রণ করা হয়।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362120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আলু বাছাই → ধোয়া → খোসা ছাড়ানো → সমান স্লাইস করা।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73152" cy="362120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স্লাইস ধোয়া/স্টার্চ কমানো → পানি ঝরানো → frying।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828800"/>
            <a:ext cx="73152" cy="362120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Finishing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তেল ঝরানো → seasoning → cooling → প্যাকেজিং ও sealing।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Sorting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91432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124020" y="5600000"/>
            <a:ext cx="1474796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69740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Washing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12533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745121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0841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Peeling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33633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366221" y="5600000"/>
            <a:ext cx="1474796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1941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Slicing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4734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87322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33042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Frying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75834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608422" y="5600000"/>
            <a:ext cx="1474796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4142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Seasoning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96935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229523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75243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Packing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৪.১৯ Pizza ও Frozen Pizza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পিজ্জার ক্ষেত্রে dough প্রস্তুতি, sheet/forming, topping/filling, baking বা par-baking, cooling/freezing ও packaging হয়।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362120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Dough &amp; forming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উপাদান মিশিয়ে dough তৈরি, বিশ্রাম/fermentation এবং sheet বা shape করা।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73152" cy="362120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Topping &amp; baking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Sauce, cheese ও topping যোগ; পণ্যের ধরন অনুযায়ী পূর্ণ baking বা par-baking।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611880" cy="362120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828800"/>
            <a:ext cx="73152" cy="362120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Frozen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331720"/>
            <a:ext cx="3337560" cy="31182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নিয়ন্ত্রিত cooling → freezing → moisture barrier packaging → frozen storage।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Mixing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91432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124020" y="5600000"/>
            <a:ext cx="1474796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69740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Sheet / Form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12533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745121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0841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Filling / Topping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33633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366221" y="5600000"/>
            <a:ext cx="1474796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1941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Baking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4734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87322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33042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Cooling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75834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608422" y="5600000"/>
            <a:ext cx="1474796" cy="658368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4142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Freezing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96935" y="5929184"/>
            <a:ext cx="118872" cy="0"/>
          </a:xfrm>
          <a:prstGeom prst="line">
            <a:avLst/>
          </a:prstGeom>
          <a:ln w="25400">
            <a:solidFill>
              <a:srgbClr val="EBAE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229523" y="5600000"/>
            <a:ext cx="1474796" cy="658368"/>
          </a:xfrm>
          <a:prstGeom prst="round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75243" y="5673152"/>
            <a:ext cx="1383356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Kalpurush"/>
                <a:ea typeface="Kalpurush"/>
                <a:cs typeface="Kalpurush"/>
              </a:rPr>
              <a:t>Packing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অনুশীলনী — অধ্যায় ৫ (খ)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22376"/>
            <a:ext cx="107899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অধ্যায় ৪ • প্রসেস সিম্বল ও যন্ত্রপাতি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105156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Food Engineering Fundamentals | 26911 | Food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45720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647182"/>
                </a:solidFill>
                <a:latin typeface="Kalpurush"/>
                <a:ea typeface="Kalpurush"/>
                <a:cs typeface="Kalpurush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088136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নিচের প্রশ্নগুলো দিয়ে নতুন অংশের মূল ধারণা যাচাই করো।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28800"/>
            <a:ext cx="73152" cy="3840480"/>
          </a:xfrm>
          <a:prstGeom prst="rect">
            <a:avLst/>
          </a:prstGeom>
          <a:solidFill>
            <a:srgbClr val="26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ধারণাভিত্তিক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১. Absorption ও stripping-এর পার্থক্য কী?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২. Shell-and-tube exchanger কোথায় কাজে লাগে?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৩. Screening কীভাবে কাজ করে?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73152" cy="384048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যন্ত্র শনাক্তকরণ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৪. Cyclone ও electrostatic precipitator-এর পার্থক্য লিখো।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৫. Screw conveyor ও belt conveyor তুলনা করো।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611880" cy="3840480"/>
          </a:xfrm>
          <a:prstGeom prst="roundRect">
            <a:avLst/>
          </a:prstGeom>
          <a:solidFill>
            <a:srgbClr val="EFF5FC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828800"/>
            <a:ext cx="73152" cy="3840480"/>
          </a:xfrm>
          <a:prstGeom prst="rect">
            <a:avLst/>
          </a:prstGeom>
          <a:solidFill>
            <a:srgbClr val="EB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38528"/>
            <a:ext cx="3337560" cy="34747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4264B"/>
                </a:solidFill>
                <a:latin typeface="Kalpurush"/>
                <a:ea typeface="Kalpurush"/>
                <a:cs typeface="Kalpurush"/>
              </a:rPr>
              <a:t>Flow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331720"/>
            <a:ext cx="3337560" cy="32735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৬. Biscuit manufacturing-এর ধাপ সাজাও।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253040"/>
                </a:solidFill>
                <a:latin typeface="Kalpurush"/>
                <a:ea typeface="Kalpurush"/>
                <a:cs typeface="Kalpurush"/>
              </a:rPr>
              <a:t>৭. Ice cream উৎপাদনে pasteurization ও freezing-এর উদ্দেশ্য কী?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৪.২ প্রসেস ইন্সট্রুমেন্টেশন: পরিচিতি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Textbook pages: electrical symbols, flow, pressure, level, temperature and combined instruments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474720" cy="182880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64008" cy="1828800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18488"/>
            <a:ext cx="31821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১. Electrical symbols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11680"/>
            <a:ext cx="3182112" cy="12344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সার্কিট, সংযোগ, সুইচ, রেজিস্টর, ক্যাপাসিটর, ট্রান্সফরমার ও মিটার বোঝাতে ব্যবহৃত চিহ্ন।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08760"/>
            <a:ext cx="3474720" cy="182880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08760"/>
            <a:ext cx="64008" cy="1828800"/>
          </a:xfrm>
          <a:prstGeom prst="rect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18488"/>
            <a:ext cx="31821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২. Instrument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011680"/>
            <a:ext cx="3182112" cy="12344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PI, FI, TI, LI, PC, FC, TC ইত্যাদি দিয়ে পরিমাপ, নির্দেশনা, নিয়ন্ত্রণ ও রেকর্ডিং বোঝানো হয়।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3474720" cy="182880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08760"/>
            <a:ext cx="64008" cy="1828800"/>
          </a:xfrm>
          <a:prstGeom prst="rect">
            <a:avLst/>
          </a:prstGeom>
          <a:solidFill>
            <a:srgbClr val="DE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618488"/>
            <a:ext cx="31821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৩. Process diagrams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011680"/>
            <a:ext cx="3182112" cy="12344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5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পাইপলাইনে সেন্সর, কন্ট্রোলার, রেকর্ডার ও কন্ট্রোল ভালভের সংযোগ দেখানো হয়।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94760"/>
            <a:ext cx="10607040" cy="10972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22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মূল ধারণা: একটি চিহ্ন কী মাপছে, কীভাবে সংকেত পাঠাচ্ছে এবং কোথায় নিয়ন্ত্রণ হচ্ছে—এই তিনটি বিষয় একসঙ্গে পড়তে হবে।</a:t>
            </a:r>
          </a:p>
        </p:txBody>
      </p:sp>
      <p:pic>
        <p:nvPicPr>
          <p:cNvPr id="21" name="Picture – instrument_bubbles" descr="ইন্সট্রুমেন্ট বাবল ও প্রসেস লাই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4960000"/>
            <a:ext cx="4617600" cy="1560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৪.৩ Electrical Symbols — মৌলিক চিহ্ন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বইয়ের Electrical symbols with diagram অংশের সারাংশ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───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49047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Connection / Wire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85623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বৈদ্যুতিক সংযোগ বা তার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7" y="149047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Ground / Earth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7" y="185623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নিরাপত্তার জন্য আর্থ সংযোগ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15768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07208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—| |—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2788920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Capacitor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3154679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বৈদ্যুতিক চার্জ সঞ্চয় করে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15768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807208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—/\/\—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2788920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Resistor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3154679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কারেন্ট প্রবাহে বাধা সৃষ্টি করে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14215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05655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—((((—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4087368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Coil / Inductor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4453127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চৌম্বক ক্ষেত্রের মাধ্যমে শক্তি সঞ্চয়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014215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105655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—( ~ )—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4087368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AC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4453127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পরিবর্তী কারেন্টের উৎস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নোট: এখানে কিছু চিহ্ন টাইপোগ্রাফিকভাবে সরলীকৃত; সার্কিট আঁকার সময় নির্দিষ্ট স্ট্যান্ডার্ড প্রতীক অনুসরণ করতে হবে।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৪.৪ Electrical Symbols — উপাদান ও সুইচ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Components and contact symbols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96012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64008" cy="960120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Fixed capacitor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28800"/>
            <a:ext cx="5010912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স্থির ধারক; capacitance পরিবর্তন করা যায় না।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03520" cy="96012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64008" cy="960120"/>
          </a:xfrm>
          <a:prstGeom prst="rect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35607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Variable capacitor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28800"/>
            <a:ext cx="5010912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চলমান প্লেটের সাহায্যে ধারকত্ব পরিবর্তন করা যায়।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96312"/>
            <a:ext cx="5303520" cy="96012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496312"/>
            <a:ext cx="64008" cy="960120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2606040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Fixed resistor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2999232"/>
            <a:ext cx="5010912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নির্দিষ্ট রোধের উপাদান।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496312"/>
            <a:ext cx="5303520" cy="96012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496312"/>
            <a:ext cx="64008" cy="960120"/>
          </a:xfrm>
          <a:prstGeom prst="rect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606040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Variable resistor / Rheostat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999232"/>
            <a:ext cx="5010912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রোধ পরিবর্তন করে কারেন্ট নিয়ন্ত্রণ করা হয়।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66744"/>
            <a:ext cx="5303520" cy="96012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66744"/>
            <a:ext cx="64008" cy="960120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3776472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Normally-open 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4169663"/>
            <a:ext cx="5010912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স্বাভাবিক অবস্থায় সার্কিট খোলা থাকে; সক্রিয় হলে বন্ধ হয়।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666744"/>
            <a:ext cx="5303520" cy="96012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666744"/>
            <a:ext cx="64008" cy="960120"/>
          </a:xfrm>
          <a:prstGeom prst="rect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776472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Normally-closed contact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169663"/>
            <a:ext cx="5010912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স্বাভাবিক অবস্থায় সার্কিট বন্ধ থাকে; সক্রিয় হলে খোলে।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37176"/>
            <a:ext cx="5303520" cy="96012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837176"/>
            <a:ext cx="64008" cy="960120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" y="4946904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Push 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5340096"/>
            <a:ext cx="5010912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ম্যানুয়াল ইনপুট; NO/NC ও spring-return ধরন থাকতে পারে।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37176"/>
            <a:ext cx="5303520" cy="96012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837176"/>
            <a:ext cx="64008" cy="960120"/>
          </a:xfrm>
          <a:prstGeom prst="rect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946904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Transformer / Rectifier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5340096"/>
            <a:ext cx="5010912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2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ভোল্টেজ রূপান্তর এবং AC থেকে DC পাওয়ার কাজে ব্যবহৃত হয়।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৪.৫ Instrument Tag — অক্ষরের অর্থ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Common letter codes used in process instrumentation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40</a:t>
            </a:r>
          </a:p>
        </p:txBody>
      </p:sp>
      <p:sp>
        <p:nvSpPr>
          <p:cNvPr id="8" name="Oval 7"/>
          <p:cNvSpPr/>
          <p:nvPr/>
        </p:nvSpPr>
        <p:spPr>
          <a:xfrm>
            <a:off x="1325880" y="1508760"/>
            <a:ext cx="658368" cy="658368"/>
          </a:xfrm>
          <a:prstGeom prst="ellipse">
            <a:avLst/>
          </a:prstGeom>
          <a:solidFill>
            <a:srgbClr val="FFFFFF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609344"/>
            <a:ext cx="658368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22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58568"/>
            <a:ext cx="196596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196596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প্রবাহ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1508760"/>
            <a:ext cx="658368" cy="658368"/>
          </a:xfrm>
          <a:prstGeom prst="ellipse">
            <a:avLst/>
          </a:prstGeom>
          <a:solidFill>
            <a:srgbClr val="FFFFFF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609344"/>
            <a:ext cx="658368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22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58568"/>
            <a:ext cx="196596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87752"/>
            <a:ext cx="196596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চাপ</a:t>
            </a:r>
          </a:p>
        </p:txBody>
      </p:sp>
      <p:sp>
        <p:nvSpPr>
          <p:cNvPr id="16" name="Oval 15"/>
          <p:cNvSpPr/>
          <p:nvPr/>
        </p:nvSpPr>
        <p:spPr>
          <a:xfrm>
            <a:off x="6995160" y="1508760"/>
            <a:ext cx="658368" cy="658368"/>
          </a:xfrm>
          <a:prstGeom prst="ellipse">
            <a:avLst/>
          </a:prstGeom>
          <a:solidFill>
            <a:srgbClr val="FFFFFF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609344"/>
            <a:ext cx="658368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22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58568"/>
            <a:ext cx="196596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87752"/>
            <a:ext cx="196596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তরলের উচ্চতা</a:t>
            </a:r>
          </a:p>
        </p:txBody>
      </p:sp>
      <p:sp>
        <p:nvSpPr>
          <p:cNvPr id="20" name="Oval 19"/>
          <p:cNvSpPr/>
          <p:nvPr/>
        </p:nvSpPr>
        <p:spPr>
          <a:xfrm>
            <a:off x="9829800" y="1508760"/>
            <a:ext cx="658368" cy="658368"/>
          </a:xfrm>
          <a:prstGeom prst="ellipse">
            <a:avLst/>
          </a:prstGeom>
          <a:solidFill>
            <a:srgbClr val="FFFFFF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609344"/>
            <a:ext cx="658368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22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58568"/>
            <a:ext cx="196596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Temperature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587752"/>
            <a:ext cx="196596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তাপমাত্রা</a:t>
            </a:r>
          </a:p>
        </p:txBody>
      </p:sp>
      <p:sp>
        <p:nvSpPr>
          <p:cNvPr id="24" name="Oval 23"/>
          <p:cNvSpPr/>
          <p:nvPr/>
        </p:nvSpPr>
        <p:spPr>
          <a:xfrm>
            <a:off x="1325880" y="3337560"/>
            <a:ext cx="658368" cy="658368"/>
          </a:xfrm>
          <a:prstGeom prst="ellipse">
            <a:avLst/>
          </a:prstGeom>
          <a:solidFill>
            <a:srgbClr val="FFFFFF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3438144"/>
            <a:ext cx="658368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22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87368"/>
            <a:ext cx="196596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Indicator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416552"/>
            <a:ext cx="196596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মান দেখায়</a:t>
            </a:r>
          </a:p>
        </p:txBody>
      </p:sp>
      <p:sp>
        <p:nvSpPr>
          <p:cNvPr id="28" name="Oval 27"/>
          <p:cNvSpPr/>
          <p:nvPr/>
        </p:nvSpPr>
        <p:spPr>
          <a:xfrm>
            <a:off x="4160520" y="3337560"/>
            <a:ext cx="658368" cy="658368"/>
          </a:xfrm>
          <a:prstGeom prst="ellipse">
            <a:avLst/>
          </a:prstGeom>
          <a:solidFill>
            <a:srgbClr val="FFFFFF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3438144"/>
            <a:ext cx="658368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22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087368"/>
            <a:ext cx="196596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Transmitter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416552"/>
            <a:ext cx="196596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পরিমাপের সংকেত পাঠায়</a:t>
            </a:r>
          </a:p>
        </p:txBody>
      </p:sp>
      <p:sp>
        <p:nvSpPr>
          <p:cNvPr id="32" name="Oval 31"/>
          <p:cNvSpPr/>
          <p:nvPr/>
        </p:nvSpPr>
        <p:spPr>
          <a:xfrm>
            <a:off x="6995160" y="3337560"/>
            <a:ext cx="658368" cy="658368"/>
          </a:xfrm>
          <a:prstGeom prst="ellipse">
            <a:avLst/>
          </a:prstGeom>
          <a:solidFill>
            <a:srgbClr val="FFFFFF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3438144"/>
            <a:ext cx="658368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22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087368"/>
            <a:ext cx="196596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416552"/>
            <a:ext cx="196596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নির্ধারিত মান অনুযায়ী নিয়ন্ত্রণ করে</a:t>
            </a:r>
          </a:p>
        </p:txBody>
      </p:sp>
      <p:sp>
        <p:nvSpPr>
          <p:cNvPr id="36" name="Oval 35"/>
          <p:cNvSpPr/>
          <p:nvPr/>
        </p:nvSpPr>
        <p:spPr>
          <a:xfrm>
            <a:off x="9829800" y="3337560"/>
            <a:ext cx="658368" cy="658368"/>
          </a:xfrm>
          <a:prstGeom prst="ellipse">
            <a:avLst/>
          </a:prstGeom>
          <a:solidFill>
            <a:srgbClr val="FFFFFF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3438144"/>
            <a:ext cx="658368" cy="4114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22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087368"/>
            <a:ext cx="1965960" cy="3200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Recorder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416552"/>
            <a:ext cx="196596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সময় অনুযায়ী মান রেকর্ড করে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৪.৬ Flow Measurement Symbols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প্রবাহ পরিমাপ, নির্দেশনা ও রেকর্ডিং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39903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Flow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76479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প্রবাহের মান স্থানীয়ভাবে দেখায়।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7" y="139903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Flow Element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7" y="176479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প্রাথমিক সেন্সিং উপাদান; যেমন orifice/flow element।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FR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272491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Flow Recorder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309067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প্রবাহের পরিবর্তন রেকর্ড করে।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5176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74320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FRC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272491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Flow Recorder-Controller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309067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প্রবাহ রেকর্ড করে এবং নিয়ন্ত্রণ সংকেত দেয়।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69079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4050791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Flow Indicating 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441655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প্রবাহ দেখায় ও নির্ধারিত মানে নিয়ন্ত্রণ করে।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977639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069079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4050791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Flow Transmitter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441655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সেন্সরের পরিমাপকে দূরবর্তী যন্ত্রে পাঠায়।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৪.৭ Pressure Measurement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চাপ পরিমাপ, অ্যালার্ম, রেকর্ডিং ও নিয়ন্ত্রণ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39903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Pressure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76479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চাপের বর্তমান মান দেখায়।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7" y="139903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Pressure Recorder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7" y="176479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চাপের মান সময়ের সঙ্গে রেকর্ড করে।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272491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Pressure Alarm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309067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চাপ নির্ধারিত সীমা ছাড়ালে সতর্ক করে।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5176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74320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272491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Pressure 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309067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প্রক্রিয়ার চাপকে নির্ধারিত মানে রাখে।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69079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PCV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4050791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Pressure Control Valve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441655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কন্ট্রোলারের সংকেত অনুযায়ী চাপ/প্রবাহ নিয়ন্ত্রণ করে।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977639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069079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PRC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4050791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Pressure Recorder-Controller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441655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চাপ রেকর্ড এবং নিয়ন্ত্রণ—দুই কাজ করে।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৪.৮ Level Measurement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ট্যাংক বা পাত্রে তরলের উচ্চতা নির্ণয়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39903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Level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76479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ট্যাংকের তরল স্তর দেখায়।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LG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7" y="139903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Level Gauge / Glass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7" y="176479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দৃষ্টির মাধ্যমে সরাসরি স্তর পর্যবেক্ষণ।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272491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Level 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309067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তরলের স্তর নির্ধারিত সীমায় রাখে।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5176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74320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LR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272491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Level Recorder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309067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সময় অনুযায়ী স্তরের পরিবর্তন রেকর্ড করে।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69079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4050791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Level Alarm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441655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উচ্চ বা নিম্ন স্তরে সতর্ক সংকেত দেয়।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977639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069079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4050791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Level Indicating Controller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441655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স্তর দেখায় এবং নিয়ন্ত্রণ করে।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৪.৯ Temperature Measurement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তাপমাত্রা নির্দেশনা, ট্রান্সমিশন, রেকর্ডিং ও কন্ট্রোল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TW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39903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Temperature Well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76479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প্রোবকে প্রক্রিয়ার তরল থেকে সুরক্ষা দেয়।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7" y="139903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Temperature Indicator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7" y="176479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তাপমাত্রার মান দেখায়।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272491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Temperature 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309067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তাপমাত্রা সেন্স করার উপাদান।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5176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74320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272491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Temperature Transmitter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309067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তাপমাত্রার সংকেত দূরবর্তী স্থানে পাঠায়।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69079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4050791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Temperature Recorder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441655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তাপমাত্রার পরিবর্তন রেকর্ড করে।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977639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069079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4050791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Temperature Indicating Controller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441655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তাপমাত্রা দেখায় এবং সেট-পয়েন্টে নিয়ন্ত্রণ করে।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৪.১০ Miscellaneous Process Instruments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বিশেষ ভৌত বৈশিষ্ট্য ও যন্ত্রের গতি পরিমাপ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61872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53312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335024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Speed Recorder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700784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মেশিন বা মোটরের গতি রেকর্ড করে।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61872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53312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WR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7" y="1335024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Weight Recorder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7" y="1700784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ওজন/লোডের পরিবর্তন রেকর্ড করে।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2316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1460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VR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249631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Viscosity Recorder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286207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তরলের সান্দ্রতা রেকর্ড করে।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423160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DR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2496312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Density Recorder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2862072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ঘনত্বের মান রেকর্ড করে।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84448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75887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3657600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Conductivity Recorder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4023360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দ্রবণের বৈদ্যুতিক পরিবাহিতা রেকর্ড করে।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584448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675887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MR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3657600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Moisture Recorder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4023360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পণ্য বা কাগজের আর্দ্রতা রেকর্ড করে।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745736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37175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HIC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38528" y="4818888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Hand 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5184648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অপারেটর হাতে নিয়ন্ত্রণ সংকেত দিতে পারেন।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745736"/>
            <a:ext cx="5303520" cy="1078992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837175"/>
            <a:ext cx="1143000" cy="43891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8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PHRC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6367" y="4818888"/>
            <a:ext cx="3886200" cy="34747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4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pH Recorder-Controller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6367" y="5184648"/>
            <a:ext cx="3886200" cy="530352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1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pH মান রেকর্ড ও নিয়ন্ত্রণে ব্যবহৃত হয়।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৪.১১ Combined Instruments ও Signal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একাধিক কাজ একসঙ্গে করা এবং যন্ত্রের মধ্যে সংকেত আদান-প্রদান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303520" cy="123444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64008" cy="1234440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81328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Combined instrument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74519"/>
            <a:ext cx="5010912" cy="6400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যেমন FRC = Flow + Recorder + Controller; TIC = Temperature + Indicator + Controller।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03520" cy="123444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64008" cy="1234440"/>
          </a:xfrm>
          <a:prstGeom prst="rect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81328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Local / Board-mounted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74519"/>
            <a:ext cx="5010912" cy="6400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Local: যন্ত্র প্রক্রিয়ার কাছে। Board-mounted: কন্ট্রোল প্যানেল/বোর্ডে।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80360"/>
            <a:ext cx="5303520" cy="123444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880360"/>
            <a:ext cx="64008" cy="1234440"/>
          </a:xfrm>
          <a:prstGeom prst="rect">
            <a:avLst/>
          </a:prstGeom>
          <a:solidFill>
            <a:srgbClr val="DE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2990088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Signal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383280"/>
            <a:ext cx="5010912" cy="6400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Solid/dashed line ও line marks দিয়ে বৈদ্যুতিক, pneumatic বা অন্য signal path বোঝানো হতে পারে।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80360"/>
            <a:ext cx="5303520" cy="123444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64008" cy="1234440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990088"/>
            <a:ext cx="501091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Control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383280"/>
            <a:ext cx="5010912" cy="6400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Sensor → Transmitter → Controller → Control valve → Process; feedback দিয়ে set-point বজায় রাখা হয়।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892040"/>
            <a:ext cx="1371600" cy="658368"/>
          </a:xfrm>
          <a:prstGeom prst="roundRect">
            <a:avLst/>
          </a:prstGeom>
          <a:solidFill>
            <a:srgbClr val="EFF5FD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056632"/>
            <a:ext cx="128016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Sensor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4680" y="4892040"/>
            <a:ext cx="1371600" cy="658368"/>
          </a:xfrm>
          <a:prstGeom prst="roundRect">
            <a:avLst/>
          </a:prstGeom>
          <a:solidFill>
            <a:srgbClr val="EFF5FD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5056632"/>
            <a:ext cx="128016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Transmitter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4892040"/>
            <a:ext cx="1371600" cy="658368"/>
          </a:xfrm>
          <a:prstGeom prst="roundRect">
            <a:avLst/>
          </a:prstGeom>
          <a:solidFill>
            <a:srgbClr val="EFF5FD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5056632"/>
            <a:ext cx="128016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Controller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4892040"/>
            <a:ext cx="1371600" cy="658368"/>
          </a:xfrm>
          <a:prstGeom prst="roundRect">
            <a:avLst/>
          </a:prstGeom>
          <a:solidFill>
            <a:srgbClr val="EFF5FD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5056632"/>
            <a:ext cx="128016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Valve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12680" y="4892040"/>
            <a:ext cx="1371600" cy="658368"/>
          </a:xfrm>
          <a:prstGeom prst="roundRect">
            <a:avLst/>
          </a:prstGeom>
          <a:solidFill>
            <a:srgbClr val="EFF5FD"/>
          </a:solidFill>
          <a:ln>
            <a:solidFill>
              <a:srgbClr val="27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5056632"/>
            <a:ext cx="1280160" cy="2743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2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Process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31720" y="5221224"/>
            <a:ext cx="822960" cy="0"/>
          </a:xfrm>
          <a:prstGeom prst="line">
            <a:avLst/>
          </a:prstGeom>
          <a:ln w="25400">
            <a:solidFill>
              <a:srgbClr val="007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26280" y="5221224"/>
            <a:ext cx="1005840" cy="0"/>
          </a:xfrm>
          <a:prstGeom prst="line">
            <a:avLst/>
          </a:prstGeom>
          <a:ln w="25400">
            <a:solidFill>
              <a:srgbClr val="007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03720" y="5221224"/>
            <a:ext cx="1005840" cy="0"/>
          </a:xfrm>
          <a:prstGeom prst="line">
            <a:avLst/>
          </a:prstGeom>
          <a:ln w="25400">
            <a:solidFill>
              <a:srgbClr val="007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281160" y="5221224"/>
            <a:ext cx="731520" cy="0"/>
          </a:xfrm>
          <a:prstGeom prst="line">
            <a:avLst/>
          </a:prstGeom>
          <a:ln w="25400">
            <a:solidFill>
              <a:srgbClr val="007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Feedback signal সাধারণত controller-কে process-এর বর্তমান অবস্থা জানায়।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৪.১২ Instrument Tag পড়ার অনুশীলন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প্রথম অক্ষর = process variable; পরের অক্ষরগুলো = instrument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29000" cy="137160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64008" cy="1371600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527048"/>
            <a:ext cx="313639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20240"/>
            <a:ext cx="3136392" cy="7772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Pressure Indicator
চাপ দেখায়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37160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64008" cy="1371600"/>
          </a:xfrm>
          <a:prstGeom prst="rect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527048"/>
            <a:ext cx="313639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20240"/>
            <a:ext cx="3136392" cy="7772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Flow Indicating Controller
প্রবাহ দেখায় ও নিয়ন্ত্রণ করে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417320"/>
            <a:ext cx="3429000" cy="137160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417320"/>
            <a:ext cx="64008" cy="1371600"/>
          </a:xfrm>
          <a:prstGeom prst="rect">
            <a:avLst/>
          </a:prstGeom>
          <a:solidFill>
            <a:srgbClr val="DE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1" y="1527048"/>
            <a:ext cx="313639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1" y="1920240"/>
            <a:ext cx="3136392" cy="7772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Level Indicating Controller
স্তর দেখায় ও নিয়ন্ত্রণ করে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3429000" cy="137160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46120"/>
            <a:ext cx="64008" cy="1371600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355848"/>
            <a:ext cx="313639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749039"/>
            <a:ext cx="3136392" cy="7772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Temperature Indicating Controller
তাপমাত্রা দেখায় ও নিয়ন্ত্রণ করে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46120"/>
            <a:ext cx="3429000" cy="137160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246120"/>
            <a:ext cx="64008" cy="1371600"/>
          </a:xfrm>
          <a:prstGeom prst="rect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355848"/>
            <a:ext cx="313639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PRC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749039"/>
            <a:ext cx="3136392" cy="7772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Pressure Recorder-Controller
চাপ রেকর্ড ও নিয়ন্ত্রণ করে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246120"/>
            <a:ext cx="3429000" cy="1371600"/>
          </a:xfrm>
          <a:prstGeom prst="roundRect">
            <a:avLst/>
          </a:prstGeom>
          <a:solidFill>
            <a:srgbClr val="EFF5FD"/>
          </a:solidFill>
          <a:ln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9" y="3246120"/>
            <a:ext cx="64008" cy="1371600"/>
          </a:xfrm>
          <a:prstGeom prst="rect">
            <a:avLst/>
          </a:prstGeom>
          <a:solidFill>
            <a:srgbClr val="DE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1" y="3355848"/>
            <a:ext cx="3136392" cy="329184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FR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1" y="3749039"/>
            <a:ext cx="3136392" cy="77724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Flow Recorder
প্রবাহ রেকর্ড করে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মনে রাখো: instrument tag-এর সুনির্দিষ্ট অর্থ ব্যবহৃত standard/legend অনুযায়ী যাচাই করতে হবে।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27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6692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2700" b="1">
                <a:solidFill>
                  <a:srgbClr val="13274B"/>
                </a:solidFill>
                <a:latin typeface="Kalpurush"/>
                <a:ea typeface="Kalpurush"/>
                <a:cs typeface="Kalpurush"/>
              </a:rPr>
              <a:t>৪.১৩ দ্রুত রিভিশন ও চেকলিস্ট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এই অধ্যায়ের মূল বিষয়গুলো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55680" cy="16459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7772400" cy="182880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Food Engineering Fundamentals | Instrumentation &amp; Process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Kalpurush"/>
                <a:ea typeface="Kalpurush"/>
                <a:cs typeface="Kalpurush"/>
              </a:rPr>
              <a:t>48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408176"/>
            <a:ext cx="292608" cy="292608"/>
          </a:xfrm>
          <a:prstGeom prst="ellipse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37160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6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Electrical symbols: wire, ground, resistor, capacitor, coil, switch, push button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21408"/>
            <a:ext cx="292608" cy="292608"/>
          </a:xfrm>
          <a:prstGeom prst="ellipse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0848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6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Instrument functions: Indicator (I), Recorder (R), Controller (C), Transmitter (T)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834640"/>
            <a:ext cx="292608" cy="292608"/>
          </a:xfrm>
          <a:prstGeom prst="ellipse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798064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6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Process variables: Flow (F), Pressure (P), Level (L), Temperature (T)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547872"/>
            <a:ext cx="292608" cy="292608"/>
          </a:xfrm>
          <a:prstGeom prst="ellipse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511296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6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Miscellaneous: speed, weight, density, viscosity, conductivity, moisture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261104"/>
            <a:ext cx="292608" cy="292608"/>
          </a:xfrm>
          <a:prstGeom prst="ellipse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22452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6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Signal lines ও mounting location বুঝে P&amp;ID / instrumentation diagram পড়া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974336"/>
            <a:ext cx="292608" cy="292608"/>
          </a:xfrm>
          <a:prstGeom prst="ellipse">
            <a:avLst/>
          </a:prstGeom>
          <a:solidFill>
            <a:srgbClr val="00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r>
              <a:rPr sz="1600" b="0">
                <a:solidFill>
                  <a:srgbClr val="2D3748"/>
                </a:solidFill>
                <a:latin typeface="Kalpurush"/>
                <a:ea typeface="Kalpurush"/>
                <a:cs typeface="Kalpurush"/>
              </a:rPr>
              <a:t>Control loop: sensing → transmission → control → final control element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10149840" cy="384048"/>
          </a:xfrm>
          <a:prstGeom prst="rect">
            <a:avLst/>
          </a:prstGeom>
          <a:noFill/>
        </p:spPr>
        <p:txBody>
          <a:bodyPr wrap="square" lIns="73152" rIns="73152" tIns="36576" bIns="27432">
            <a:spAutoFit/>
          </a:bodyPr>
          <a:lstStyle/>
          <a:p>
            <a:pPr algn="ctr"/>
            <a:r>
              <a:rPr sz="1500" b="1">
                <a:solidFill>
                  <a:srgbClr val="275BA6"/>
                </a:solidFill>
                <a:latin typeface="Kalpurush"/>
                <a:ea typeface="Kalpurush"/>
                <a:cs typeface="Kalpurush"/>
              </a:rPr>
              <a:t>পরবর্তী ধাপ: এই প্রতীকগুলো ব্যবহার করে একটি ছোট process flow / control loop নিজে আঁকো।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Kalpurush"/>
        <a:ea typeface="Kalpurush"/>
        <a:cs typeface="Kalpurush"/>
        <a:font script="Jpan" typeface="Kalpurush"/>
        <a:font script="Hang" typeface="Kalpurush"/>
        <a:font script="Hans" typeface="Kalpurush"/>
        <a:font script="Hant" typeface="Kalpurush"/>
        <a:font script="Arab" typeface="Kalpurush"/>
        <a:font script="Hebr" typeface="Kalpurush"/>
        <a:font script="Thai" typeface="Kalpurush"/>
        <a:font script="Ethi" typeface="Kalpurush"/>
        <a:font script="Beng" typeface="Kalpurush"/>
        <a:font script="Gujr" typeface="Kalpurush"/>
        <a:font script="Khmr" typeface="Kalpurush"/>
        <a:font script="Knda" typeface="Kalpurush"/>
        <a:font script="Guru" typeface="Kalpurush"/>
        <a:font script="Cans" typeface="Kalpurush"/>
        <a:font script="Cher" typeface="Kalpurush"/>
        <a:font script="Yiii" typeface="Kalpurush"/>
        <a:font script="Tibt" typeface="Kalpurush"/>
        <a:font script="Thaa" typeface="Kalpurush"/>
        <a:font script="Deva" typeface="Kalpurush"/>
        <a:font script="Telu" typeface="Kalpurush"/>
        <a:font script="Taml" typeface="Kalpurush"/>
        <a:font script="Syrc" typeface="Kalpurush"/>
        <a:font script="Orya" typeface="Kalpurush"/>
        <a:font script="Mlym" typeface="Kalpurush"/>
        <a:font script="Laoo" typeface="Kalpurush"/>
        <a:font script="Sinh" typeface="Kalpurush"/>
        <a:font script="Mong" typeface="Kalpurush"/>
        <a:font script="Viet" typeface="Kalpurush"/>
        <a:font script="Uigh" typeface="Kalpurush"/>
        <a:font script="Geor" typeface="Kalpurush"/>
      </a:majorFont>
      <a:minorFont>
        <a:latin typeface="Kalpurush"/>
        <a:ea typeface="Kalpurush"/>
        <a:cs typeface="Kalpurush"/>
        <a:font script="Jpan" typeface="Kalpurush"/>
        <a:font script="Hang" typeface="Kalpurush"/>
        <a:font script="Hans" typeface="Kalpurush"/>
        <a:font script="Hant" typeface="Kalpurush"/>
        <a:font script="Arab" typeface="Kalpurush"/>
        <a:font script="Hebr" typeface="Kalpurush"/>
        <a:font script="Thai" typeface="Kalpurush"/>
        <a:font script="Ethi" typeface="Kalpurush"/>
        <a:font script="Beng" typeface="Kalpurush"/>
        <a:font script="Gujr" typeface="Kalpurush"/>
        <a:font script="Khmr" typeface="Kalpurush"/>
        <a:font script="Knda" typeface="Kalpurush"/>
        <a:font script="Guru" typeface="Kalpurush"/>
        <a:font script="Cans" typeface="Kalpurush"/>
        <a:font script="Cher" typeface="Kalpurush"/>
        <a:font script="Yiii" typeface="Kalpurush"/>
        <a:font script="Tibt" typeface="Kalpurush"/>
        <a:font script="Thaa" typeface="Kalpurush"/>
        <a:font script="Deva" typeface="Kalpurush"/>
        <a:font script="Telu" typeface="Kalpurush"/>
        <a:font script="Taml" typeface="Kalpurush"/>
        <a:font script="Syrc" typeface="Kalpurush"/>
        <a:font script="Orya" typeface="Kalpurush"/>
        <a:font script="Mlym" typeface="Kalpurush"/>
        <a:font script="Laoo" typeface="Kalpurush"/>
        <a:font script="Sinh" typeface="Kalpurush"/>
        <a:font script="Mong" typeface="Kalpurush"/>
        <a:font script="Viet" typeface="Kalpurush"/>
        <a:font script="Uigh" typeface="Kalpurush"/>
        <a:font script="Geor" typeface="Kalpurus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1461</Words>
  <Application>Microsoft Office PowerPoint</Application>
  <PresentationFormat>Widescreen</PresentationFormat>
  <Paragraphs>273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Kalpurush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 Ariful Alam</cp:lastModifiedBy>
  <cp:revision>6</cp:revision>
  <dcterms:created xsi:type="dcterms:W3CDTF">2013-01-27T09:14:16Z</dcterms:created>
  <dcterms:modified xsi:type="dcterms:W3CDTF">2026-09-29T03:31:19Z</dcterms:modified>
  <cp:category/>
</cp:coreProperties>
</file>